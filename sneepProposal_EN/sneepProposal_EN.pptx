
<file path=[Content_Types].xml><?xml version="1.0" encoding="utf-8"?>
<Types xmlns="http://schemas.openxmlformats.org/package/2006/content-types">
  <Default Extension="emf" ContentType="image/x-emf"/>
  <Default Extension="jpeg" ContentType="image/pn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thumbnail.jpe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6" r:id="rId9"/>
    <p:sldId id="279" r:id="rId10"/>
    <p:sldId id="261" r:id="rId11"/>
    <p:sldId id="262" r:id="rId12"/>
    <p:sldId id="263" r:id="rId13"/>
    <p:sldId id="282" r:id="rId14"/>
    <p:sldId id="280" r:id="rId15"/>
    <p:sldId id="281" r:id="rId16"/>
    <p:sldId id="283" r:id="rId17"/>
    <p:sldId id="28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108" d="100"/>
          <a:sy n="108" d="100"/>
        </p:scale>
        <p:origin x="71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BBC0-66F2-205B-5E1B-5B5A4260F6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DAB9C2-7372-B30F-149E-C0A5BEC005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D5B195-18B7-5E69-5A0B-8BDD28ABA016}"/>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5" name="Footer Placeholder 4">
            <a:extLst>
              <a:ext uri="{FF2B5EF4-FFF2-40B4-BE49-F238E27FC236}">
                <a16:creationId xmlns:a16="http://schemas.microsoft.com/office/drawing/2014/main" id="{F418BCD9-9AF0-3DB7-FDEA-98BC25CC1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A3CD69-F49B-9E59-6C85-6E61D4E83667}"/>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2120228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334E1-3E55-231D-C692-056B52AD75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EC7D4D-6F95-3912-5BE5-52CECAD613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1BBC7B-3295-F71F-4960-75447C5F835A}"/>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5" name="Footer Placeholder 4">
            <a:extLst>
              <a:ext uri="{FF2B5EF4-FFF2-40B4-BE49-F238E27FC236}">
                <a16:creationId xmlns:a16="http://schemas.microsoft.com/office/drawing/2014/main" id="{929E1961-C3A1-316A-69D8-DEF289BBB0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960EC8-7F8D-FC18-F301-B82751B7A3F5}"/>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2340240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2435-7045-A9CF-99D7-13AF599635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3EDC4F-426E-615B-24D8-2E49BB1DBC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1BD791-6091-A433-F64F-4D75692ACEAA}"/>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5" name="Footer Placeholder 4">
            <a:extLst>
              <a:ext uri="{FF2B5EF4-FFF2-40B4-BE49-F238E27FC236}">
                <a16:creationId xmlns:a16="http://schemas.microsoft.com/office/drawing/2014/main" id="{10A4FFE2-4C83-AEE6-5CC4-25663FE07A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C4402F-2628-23AF-F8A3-1673F3661777}"/>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3637761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4DE89-64CD-C4E7-776F-2F367A0E8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148CE6-84AA-A1CA-F407-8C8461163D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6DB113-E832-CDAF-67FA-9D83CA82DD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F98BD-94A8-08B0-2171-228F834565DA}"/>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6" name="Footer Placeholder 5">
            <a:extLst>
              <a:ext uri="{FF2B5EF4-FFF2-40B4-BE49-F238E27FC236}">
                <a16:creationId xmlns:a16="http://schemas.microsoft.com/office/drawing/2014/main" id="{83962C44-4415-7521-FC75-71BBB4A4A3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DB5415-BAA6-23B7-2507-43BB6AEE58C7}"/>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1768015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269B0-6AC9-D168-F400-51714A7951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ADD4DA-E0D7-3B2B-8F2D-E5BD925131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17671E-A4B7-2397-800A-2505EE1212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05E7C1-1F42-A212-7E68-BD577E2CD5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DA0C33-19AB-BFA1-1F59-E38EF6C7F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3A4E9E-0CD5-1043-A80A-F1ED3F0724BB}"/>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8" name="Footer Placeholder 7">
            <a:extLst>
              <a:ext uri="{FF2B5EF4-FFF2-40B4-BE49-F238E27FC236}">
                <a16:creationId xmlns:a16="http://schemas.microsoft.com/office/drawing/2014/main" id="{9AE81873-8EF5-BEF0-FC66-4F434A6C7A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0BECFD-2A04-AC35-9913-841422357BD4}"/>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1070208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C83F-51D6-66E8-72EC-22A26E9223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7604F2-9FAC-6775-9C15-7C6E770A31B0}"/>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4" name="Footer Placeholder 3">
            <a:extLst>
              <a:ext uri="{FF2B5EF4-FFF2-40B4-BE49-F238E27FC236}">
                <a16:creationId xmlns:a16="http://schemas.microsoft.com/office/drawing/2014/main" id="{329F7420-A098-6ABF-1E08-1E6533AEDB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F9F13C-B614-3C42-0175-A4FFA96BA687}"/>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1581207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317B4-0E6F-D480-922B-FED264D4C3BC}"/>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3" name="Footer Placeholder 2">
            <a:extLst>
              <a:ext uri="{FF2B5EF4-FFF2-40B4-BE49-F238E27FC236}">
                <a16:creationId xmlns:a16="http://schemas.microsoft.com/office/drawing/2014/main" id="{AD722F0F-BBF5-3B7F-9BCC-BF91D58F3F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970350-C57C-A535-E45D-8E7D1B9E57A6}"/>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193050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6623F-1835-8253-CF90-27AF8A6148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8702AF-5BE0-912F-334F-5F21B28C2A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675471-A6B0-EF9E-FB1F-985C37410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28DFAC-4DB4-24EB-42BC-3B82C1A125AC}"/>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6" name="Footer Placeholder 5">
            <a:extLst>
              <a:ext uri="{FF2B5EF4-FFF2-40B4-BE49-F238E27FC236}">
                <a16:creationId xmlns:a16="http://schemas.microsoft.com/office/drawing/2014/main" id="{8B51087E-BEE4-C5E4-1EF8-5DD2B47323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408499-E176-72BC-A6A1-1524E0029E58}"/>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279886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EB393-236B-ED11-ABCF-3E60991C9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BF738DA-B52C-37D2-2D8B-969E8743C4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1B2190-06EF-CD4C-9ECB-11D6196731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9DFE8D-A47B-AF31-4E4D-66FC2637C516}"/>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6" name="Footer Placeholder 5">
            <a:extLst>
              <a:ext uri="{FF2B5EF4-FFF2-40B4-BE49-F238E27FC236}">
                <a16:creationId xmlns:a16="http://schemas.microsoft.com/office/drawing/2014/main" id="{8FAB64DC-4A28-9BDD-2854-D9E6AC4B20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610083-EAEC-C954-648A-8CC05B258C0E}"/>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1867056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0901D-3204-87E7-E502-1DBDC782D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55D84C-EFC6-157E-4EC1-AB3519D174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F6DB28-1792-D710-B6A0-327467BAE131}"/>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5" name="Footer Placeholder 4">
            <a:extLst>
              <a:ext uri="{FF2B5EF4-FFF2-40B4-BE49-F238E27FC236}">
                <a16:creationId xmlns:a16="http://schemas.microsoft.com/office/drawing/2014/main" id="{659557DC-5FFE-1FEB-6611-40F8A974A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91E021-C863-1E8D-DC33-EE2936B6C302}"/>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341628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204540-14FB-2B73-2D5D-A567A6379A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E960D7-57E5-55F5-EBE0-153CA94B0D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89E2A2-2D8C-6909-75DD-387DAAC11876}"/>
              </a:ext>
            </a:extLst>
          </p:cNvPr>
          <p:cNvSpPr>
            <a:spLocks noGrp="1"/>
          </p:cNvSpPr>
          <p:nvPr>
            <p:ph type="dt" sz="half" idx="10"/>
          </p:nvPr>
        </p:nvSpPr>
        <p:spPr/>
        <p:txBody>
          <a:bodyPr/>
          <a:lstStyle/>
          <a:p>
            <a:fld id="{924D3340-B203-4A1B-9D93-CCAAD981AFE9}" type="datetimeFigureOut">
              <a:rPr lang="en-US" smtClean="0"/>
              <a:t>12/27/2025</a:t>
            </a:fld>
            <a:endParaRPr lang="en-US"/>
          </a:p>
        </p:txBody>
      </p:sp>
      <p:sp>
        <p:nvSpPr>
          <p:cNvPr id="5" name="Footer Placeholder 4">
            <a:extLst>
              <a:ext uri="{FF2B5EF4-FFF2-40B4-BE49-F238E27FC236}">
                <a16:creationId xmlns:a16="http://schemas.microsoft.com/office/drawing/2014/main" id="{2DB78C2F-E5E2-76CC-A821-C686092DE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9160C-A9CC-B6E8-AF77-CE6791670092}"/>
              </a:ext>
            </a:extLst>
          </p:cNvPr>
          <p:cNvSpPr>
            <a:spLocks noGrp="1"/>
          </p:cNvSpPr>
          <p:nvPr>
            <p:ph type="sldNum" sz="quarter" idx="12"/>
          </p:nvPr>
        </p:nvSpPr>
        <p:spPr/>
        <p:txBody>
          <a:bodyPr/>
          <a:lstStyle/>
          <a:p>
            <a:fld id="{9C210F77-0A9B-4AA0-B0A2-F361A4B39DAD}" type="slidenum">
              <a:rPr lang="en-US" smtClean="0"/>
              <a:t>‹#›</a:t>
            </a:fld>
            <a:endParaRPr lang="en-US"/>
          </a:p>
        </p:txBody>
      </p:sp>
    </p:spTree>
    <p:extLst>
      <p:ext uri="{BB962C8B-B14F-4D97-AF65-F5344CB8AC3E}">
        <p14:creationId xmlns:p14="http://schemas.microsoft.com/office/powerpoint/2010/main" val="140650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37E189-908E-8AE2-F7AB-63185CE6D6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7FEFB6-596E-DB7F-2CCD-21D8020A06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E956D4-6452-B09C-D553-A9A38A6B9F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4D3340-B203-4A1B-9D93-CCAAD981AFE9}" type="datetimeFigureOut">
              <a:rPr lang="en-US" smtClean="0"/>
              <a:t>12/27/2025</a:t>
            </a:fld>
            <a:endParaRPr lang="en-US"/>
          </a:p>
        </p:txBody>
      </p:sp>
      <p:sp>
        <p:nvSpPr>
          <p:cNvPr id="5" name="Footer Placeholder 4">
            <a:extLst>
              <a:ext uri="{FF2B5EF4-FFF2-40B4-BE49-F238E27FC236}">
                <a16:creationId xmlns:a16="http://schemas.microsoft.com/office/drawing/2014/main" id="{F078FC47-F752-1CB2-23F1-4D89860146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E8D7B1-81D3-29F2-F065-9441C17102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210F77-0A9B-4AA0-B0A2-F361A4B39DAD}" type="slidenum">
              <a:rPr lang="en-US" smtClean="0"/>
              <a:t>‹#›</a:t>
            </a:fld>
            <a:endParaRPr lang="en-US"/>
          </a:p>
        </p:txBody>
      </p:sp>
    </p:spTree>
    <p:extLst>
      <p:ext uri="{BB962C8B-B14F-4D97-AF65-F5344CB8AC3E}">
        <p14:creationId xmlns:p14="http://schemas.microsoft.com/office/powerpoint/2010/main" val="992830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hyperlink" Target="https://drive.google.com/file/d/1jY8L70N-11MRXN6jYYbD4-BoVdBQu3V5/view?usp=sharing"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hyperlink" Target="https://drive.google.com/file/d/1MpKt_3yQIjF_mIqGxhbjMeeNR5mW0sST/view?usp=sharing"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17" name="Image 11">
            <a:extLst>
              <a:ext uri="{FF2B5EF4-FFF2-40B4-BE49-F238E27FC236}">
                <a16:creationId xmlns:a16="http://schemas.microsoft.com/office/drawing/2014/main" id="{3962B297-1CCB-5B34-B0CD-09DF2D085984}"/>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762FA595-B48D-B7FE-BCBB-51C54BE83C40}"/>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23BD7D41-65B8-068F-7FEB-DADADD7C89A7}"/>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endParaRPr lang="en-US"/>
            </a:p>
          </p:txBody>
        </p:sp>
        <p:sp>
          <p:nvSpPr>
            <p:cNvPr id="2120" name="Freeform: Shape 2119">
              <a:extLst>
                <a:ext uri="{FF2B5EF4-FFF2-40B4-BE49-F238E27FC236}">
                  <a16:creationId xmlns:a16="http://schemas.microsoft.com/office/drawing/2014/main" id="{164FC9E5-3086-022D-BFFC-6E48CBB0842A}"/>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endParaRPr lang="en-US"/>
            </a:p>
          </p:txBody>
        </p:sp>
      </p:grpSp>
      <p:pic>
        <p:nvPicPr>
          <p:cNvPr id="2076" name="Image 31">
            <a:extLst>
              <a:ext uri="{FF2B5EF4-FFF2-40B4-BE49-F238E27FC236}">
                <a16:creationId xmlns:a16="http://schemas.microsoft.com/office/drawing/2014/main" id="{7FC0E9BB-C28E-4330-0304-BE3547192A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677920" y="3597276"/>
            <a:ext cx="4055110" cy="2759710"/>
          </a:xfrm>
          <a:prstGeom prst="rect">
            <a:avLst/>
          </a:prstGeom>
        </p:spPr>
      </p:pic>
      <p:pic>
        <p:nvPicPr>
          <p:cNvPr id="2077" name="Image 33">
            <a:extLst>
              <a:ext uri="{FF2B5EF4-FFF2-40B4-BE49-F238E27FC236}">
                <a16:creationId xmlns:a16="http://schemas.microsoft.com/office/drawing/2014/main" id="{9FAB444B-6583-5D0C-EF72-F3AC4187A3B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4939665" y="6303011"/>
            <a:ext cx="1540510" cy="368300"/>
          </a:xfrm>
          <a:prstGeom prst="rect">
            <a:avLst/>
          </a:prstGeom>
        </p:spPr>
      </p:pic>
      <p:sp>
        <p:nvSpPr>
          <p:cNvPr id="2116" name="Rectangle 68">
            <a:extLst>
              <a:ext uri="{FF2B5EF4-FFF2-40B4-BE49-F238E27FC236}">
                <a16:creationId xmlns:a16="http://schemas.microsoft.com/office/drawing/2014/main" id="{F16835CF-41C9-6DC2-9365-DD4D0C17F81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21" name="Rectangle 69">
            <a:extLst>
              <a:ext uri="{FF2B5EF4-FFF2-40B4-BE49-F238E27FC236}">
                <a16:creationId xmlns:a16="http://schemas.microsoft.com/office/drawing/2014/main" id="{4BB6F929-A2C2-D649-E396-A9EB2623A89D}"/>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FFFFFF"/>
                </a:solidFill>
                <a:effectLst/>
                <a:latin typeface="Arial" panose="020B0604020202020204" pitchFamily="34" charset="0"/>
                <a:ea typeface="Arial" panose="020B0604020202020204" pitchFamily="34" charset="0"/>
              </a:rPr>
              <a:t>Snug Sleep with</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125" name="Picture 2124">
            <a:extLst>
              <a:ext uri="{FF2B5EF4-FFF2-40B4-BE49-F238E27FC236}">
                <a16:creationId xmlns:a16="http://schemas.microsoft.com/office/drawing/2014/main" id="{ED5E642E-CD30-6DDF-9AE2-848715CC9687}"/>
              </a:ext>
            </a:extLst>
          </p:cNvPr>
          <p:cNvPicPr>
            <a:picLocks noChangeAspect="1"/>
          </p:cNvPicPr>
          <p:nvPr/>
        </p:nvPicPr>
        <p:blipFill>
          <a:blip r:embed="rId4"/>
          <a:stretch>
            <a:fillRect/>
          </a:stretch>
        </p:blipFill>
        <p:spPr>
          <a:xfrm>
            <a:off x="328803" y="998855"/>
            <a:ext cx="10029444" cy="2164080"/>
          </a:xfrm>
          <a:prstGeom prst="rect">
            <a:avLst/>
          </a:prstGeom>
        </p:spPr>
      </p:pic>
      <p:pic>
        <p:nvPicPr>
          <p:cNvPr id="2129" name="Picture 2128">
            <a:extLst>
              <a:ext uri="{FF2B5EF4-FFF2-40B4-BE49-F238E27FC236}">
                <a16:creationId xmlns:a16="http://schemas.microsoft.com/office/drawing/2014/main" id="{BB6470D1-4698-9197-6C2C-9E72A75E14BC}"/>
              </a:ext>
            </a:extLst>
          </p:cNvPr>
          <p:cNvPicPr>
            <a:picLocks noChangeAspect="1"/>
          </p:cNvPicPr>
          <p:nvPr/>
        </p:nvPicPr>
        <p:blipFill>
          <a:blip r:embed="rId5"/>
          <a:stretch>
            <a:fillRect/>
          </a:stretch>
        </p:blipFill>
        <p:spPr>
          <a:xfrm>
            <a:off x="499606" y="2647569"/>
            <a:ext cx="10029444" cy="2744724"/>
          </a:xfrm>
          <a:prstGeom prst="rect">
            <a:avLst/>
          </a:prstGeom>
        </p:spPr>
      </p:pic>
    </p:spTree>
    <p:extLst>
      <p:ext uri="{BB962C8B-B14F-4D97-AF65-F5344CB8AC3E}">
        <p14:creationId xmlns:p14="http://schemas.microsoft.com/office/powerpoint/2010/main" val="235376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BE4F4-F6D0-8450-A33C-702AC69EB9F0}"/>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70755843-F126-135D-E489-1D77E64D1ADE}"/>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C49E67A4-94C8-1012-2B69-B0DA595954B2}"/>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E7FA01C9-F8C6-6938-87FB-7FFCAA912A42}"/>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B75031BB-DFA0-F230-888C-19B69E6E7900}"/>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E6961ED7-564E-3C01-3B7A-49D495B2D71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60">
            <a:extLst>
              <a:ext uri="{FF2B5EF4-FFF2-40B4-BE49-F238E27FC236}">
                <a16:creationId xmlns:a16="http://schemas.microsoft.com/office/drawing/2014/main" id="{8BAC3D73-DD6F-7EDD-B58B-823F11618F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0"/>
            <a:ext cx="6096000" cy="3983312"/>
          </a:xfrm>
          <a:prstGeom prst="rect">
            <a:avLst/>
          </a:prstGeom>
        </p:spPr>
      </p:pic>
      <p:pic>
        <p:nvPicPr>
          <p:cNvPr id="5" name="Image 81">
            <a:extLst>
              <a:ext uri="{FF2B5EF4-FFF2-40B4-BE49-F238E27FC236}">
                <a16:creationId xmlns:a16="http://schemas.microsoft.com/office/drawing/2014/main" id="{E31B3429-22B0-E6E3-5605-0CDA5F722A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096001" y="2422206"/>
            <a:ext cx="6096000" cy="4435793"/>
          </a:xfrm>
          <a:prstGeom prst="rect">
            <a:avLst/>
          </a:prstGeom>
        </p:spPr>
      </p:pic>
    </p:spTree>
    <p:extLst>
      <p:ext uri="{BB962C8B-B14F-4D97-AF65-F5344CB8AC3E}">
        <p14:creationId xmlns:p14="http://schemas.microsoft.com/office/powerpoint/2010/main" val="3871254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800BD-CCC4-694D-7158-7EAE712E7431}"/>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74BF532F-01BB-5177-0E77-FFCA2D403A7A}"/>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187C1AFB-4E87-E41C-0F59-6545213CBFEA}"/>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6E4C0E65-03F0-5136-74E7-FC2DA59F1BCB}"/>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46D28143-C05F-0483-A13A-E584B277FC71}"/>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7331F449-C3D2-78A2-3CAB-D0E61F48BC6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Image 119">
            <a:extLst>
              <a:ext uri="{FF2B5EF4-FFF2-40B4-BE49-F238E27FC236}">
                <a16:creationId xmlns:a16="http://schemas.microsoft.com/office/drawing/2014/main" id="{EDA946E6-85FB-E77D-63A9-0C5386AD8F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4711065" y="147638"/>
            <a:ext cx="7287260" cy="3998595"/>
          </a:xfrm>
          <a:prstGeom prst="rect">
            <a:avLst/>
          </a:prstGeom>
        </p:spPr>
      </p:pic>
      <p:pic>
        <p:nvPicPr>
          <p:cNvPr id="3" name="Image 130">
            <a:extLst>
              <a:ext uri="{FF2B5EF4-FFF2-40B4-BE49-F238E27FC236}">
                <a16:creationId xmlns:a16="http://schemas.microsoft.com/office/drawing/2014/main" id="{802B630E-6593-64AE-EB9C-BCEF6A310F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86055" y="146368"/>
            <a:ext cx="4314190" cy="6565265"/>
          </a:xfrm>
          <a:prstGeom prst="rect">
            <a:avLst/>
          </a:prstGeom>
        </p:spPr>
      </p:pic>
      <p:pic>
        <p:nvPicPr>
          <p:cNvPr id="4" name="Image 148">
            <a:extLst>
              <a:ext uri="{FF2B5EF4-FFF2-40B4-BE49-F238E27FC236}">
                <a16:creationId xmlns:a16="http://schemas.microsoft.com/office/drawing/2014/main" id="{A8453712-87FA-6AD5-8CDF-9044172FC25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4711065" y="4230688"/>
            <a:ext cx="3029585" cy="2479040"/>
          </a:xfrm>
          <a:prstGeom prst="rect">
            <a:avLst/>
          </a:prstGeom>
        </p:spPr>
      </p:pic>
      <p:pic>
        <p:nvPicPr>
          <p:cNvPr id="5" name="Image 150">
            <a:extLst>
              <a:ext uri="{FF2B5EF4-FFF2-40B4-BE49-F238E27FC236}">
                <a16:creationId xmlns:a16="http://schemas.microsoft.com/office/drawing/2014/main" id="{863F7BAA-251D-4152-81BB-EA9C414E159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7836535" y="4400233"/>
            <a:ext cx="4169410" cy="2159000"/>
          </a:xfrm>
          <a:prstGeom prst="rect">
            <a:avLst/>
          </a:prstGeom>
        </p:spPr>
      </p:pic>
    </p:spTree>
    <p:extLst>
      <p:ext uri="{BB962C8B-B14F-4D97-AF65-F5344CB8AC3E}">
        <p14:creationId xmlns:p14="http://schemas.microsoft.com/office/powerpoint/2010/main" val="197147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E2FE4-0476-747E-E8CA-BB69C3A214DE}"/>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E3A13486-057F-0C79-092F-C21A7B174D60}"/>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27AEEAF6-8225-CA3D-4611-B70E1F8619D3}"/>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6176AE93-E743-BB8B-A6AB-D16549FC187B}"/>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8CDB9405-7FBE-47AE-B745-5B94370E40A4}"/>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B6650996-8AB2-A44D-BA43-F6CA9DC93BB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FCAFFF0-47FC-3D6A-FECD-76B7940D6D3D}"/>
              </a:ext>
            </a:extLst>
          </p:cNvPr>
          <p:cNvSpPr txBox="1"/>
          <p:nvPr/>
        </p:nvSpPr>
        <p:spPr>
          <a:xfrm>
            <a:off x="-514350" y="635118"/>
            <a:ext cx="12192000" cy="7653698"/>
          </a:xfrm>
          <a:prstGeom prst="rect">
            <a:avLst/>
          </a:prstGeom>
          <a:noFill/>
        </p:spPr>
        <p:txBody>
          <a:bodyPr wrap="square">
            <a:spAutoFit/>
          </a:bodyPr>
          <a:lstStyle/>
          <a:p>
            <a:pPr marL="1073150" marR="0" eaLnBrk="0" latinLnBrk="1">
              <a:lnSpc>
                <a:spcPct val="85000"/>
              </a:lnSpc>
              <a:spcBef>
                <a:spcPts val="160"/>
              </a:spcBef>
              <a:buNone/>
            </a:pPr>
            <a:r>
              <a:rPr lang="en-US" sz="4800" b="1" spc="25" dirty="0">
                <a:solidFill>
                  <a:srgbClr val="FF0000"/>
                </a:solidFill>
                <a:effectLst/>
                <a:latin typeface="Arial" panose="020B0604020202020204" pitchFamily="34" charset="0"/>
                <a:ea typeface="Arial" panose="020B0604020202020204" pitchFamily="34" charset="0"/>
              </a:rPr>
              <a:t>Problem</a:t>
            </a:r>
            <a:endParaRPr lang="en-US" sz="1050" dirty="0">
              <a:solidFill>
                <a:srgbClr val="FF0000"/>
              </a:solidFill>
              <a:effectLst/>
              <a:latin typeface="Arial" panose="020B0604020202020204" pitchFamily="34" charset="0"/>
              <a:ea typeface="Arial" panose="020B0604020202020204" pitchFamily="34" charset="0"/>
            </a:endParaRPr>
          </a:p>
          <a:p>
            <a:pPr marL="1059815" marR="3136900" eaLnBrk="0">
              <a:lnSpc>
                <a:spcPct val="105000"/>
              </a:lnSpc>
              <a:spcBef>
                <a:spcPts val="20"/>
              </a:spcBef>
              <a:spcAft>
                <a:spcPts val="160"/>
              </a:spcAft>
              <a:buNone/>
            </a:pPr>
            <a:r>
              <a:rPr lang="en-US" sz="2400" dirty="0">
                <a:solidFill>
                  <a:srgbClr val="FFFFFF"/>
                </a:solidFill>
                <a:effectLst/>
                <a:latin typeface="Arial" panose="020B0604020202020204" pitchFamily="34" charset="0"/>
                <a:ea typeface="Arial" panose="020B0604020202020204" pitchFamily="34" charset="0"/>
              </a:rPr>
              <a:t>Obstructive sleep apnea (OSA) is a disease that characterized by episodes of complete collapse of the airway or partial collapse with an associated decrease in oxygen saturation or arousal from sleep. </a:t>
            </a:r>
            <a:endParaRPr lang="en-US" sz="2400" dirty="0">
              <a:effectLst/>
            </a:endParaRPr>
          </a:p>
          <a:p>
            <a:pPr marL="1049655" marR="0" eaLnBrk="0" latinLnBrk="1">
              <a:spcBef>
                <a:spcPts val="510"/>
              </a:spcBef>
              <a:spcAft>
                <a:spcPts val="350"/>
              </a:spcAft>
              <a:buNone/>
            </a:pPr>
            <a:r>
              <a:rPr lang="en-US" sz="2800" b="1" dirty="0">
                <a:solidFill>
                  <a:srgbClr val="57C3A7"/>
                </a:solidFill>
                <a:effectLst/>
                <a:latin typeface="Arial" panose="020B0604020202020204" pitchFamily="34" charset="0"/>
                <a:ea typeface="Arial" panose="020B0604020202020204" pitchFamily="34" charset="0"/>
              </a:rPr>
              <a:t>Prevalence</a:t>
            </a:r>
            <a:r>
              <a:rPr lang="en-US" sz="2800" b="1" spc="10" dirty="0">
                <a:solidFill>
                  <a:srgbClr val="57C3A7"/>
                </a:solidFill>
                <a:effectLst/>
                <a:latin typeface="Arial" panose="020B0604020202020204" pitchFamily="34" charset="0"/>
                <a:ea typeface="Arial" panose="020B0604020202020204" pitchFamily="34" charset="0"/>
              </a:rPr>
              <a:t>:</a:t>
            </a:r>
            <a:endParaRPr lang="en-US" sz="2800" dirty="0">
              <a:solidFill>
                <a:srgbClr val="000000"/>
              </a:solidFill>
              <a:effectLst/>
              <a:latin typeface="Arial" panose="020B0604020202020204" pitchFamily="34" charset="0"/>
              <a:ea typeface="Arial" panose="020B0604020202020204" pitchFamily="34" charset="0"/>
            </a:endParaRPr>
          </a:p>
          <a:p>
            <a:pPr marL="1049655" marR="0" eaLnBrk="0">
              <a:lnSpc>
                <a:spcPct val="105000"/>
              </a:lnSpc>
              <a:spcBef>
                <a:spcPts val="370"/>
              </a:spcBef>
              <a:spcAft>
                <a:spcPts val="1850"/>
              </a:spcAft>
              <a:buNone/>
            </a:pPr>
            <a:r>
              <a:rPr lang="en-US" sz="2000" b="1" dirty="0">
                <a:solidFill>
                  <a:srgbClr val="FFFFFF"/>
                </a:solidFill>
                <a:effectLst/>
                <a:latin typeface="Arial" panose="020B0604020202020204" pitchFamily="34" charset="0"/>
                <a:ea typeface="Arial" panose="020B0604020202020204" pitchFamily="34" charset="0"/>
              </a:rPr>
              <a:t>In our country, on average, 1 person out of every 4 men and 1 person out of every 10 women are suffering from this disease, which in some countries reaches 50%. </a:t>
            </a:r>
            <a:endParaRPr lang="fa-IR" sz="2000" b="1" dirty="0">
              <a:solidFill>
                <a:srgbClr val="FFFFFF"/>
              </a:solidFill>
              <a:effectLst/>
              <a:latin typeface="Arial" panose="020B0604020202020204" pitchFamily="34" charset="0"/>
              <a:ea typeface="Arial" panose="020B0604020202020204" pitchFamily="34" charset="0"/>
            </a:endParaRPr>
          </a:p>
          <a:p>
            <a:pPr marL="1049655" marR="0" eaLnBrk="0">
              <a:lnSpc>
                <a:spcPct val="105000"/>
              </a:lnSpc>
              <a:spcBef>
                <a:spcPts val="370"/>
              </a:spcBef>
              <a:spcAft>
                <a:spcPts val="1850"/>
              </a:spcAft>
              <a:buNone/>
            </a:pPr>
            <a:r>
              <a:rPr lang="en-US" sz="2800" b="1" dirty="0">
                <a:solidFill>
                  <a:srgbClr val="57C3A7"/>
                </a:solidFill>
                <a:effectLst/>
                <a:latin typeface="Arial" panose="020B0604020202020204" pitchFamily="34" charset="0"/>
                <a:ea typeface="Arial" panose="020B0604020202020204" pitchFamily="34" charset="0"/>
              </a:rPr>
              <a:t>Risk</a:t>
            </a:r>
            <a:r>
              <a:rPr lang="en-US" sz="2800" b="1" spc="-5" dirty="0">
                <a:solidFill>
                  <a:srgbClr val="57C3A7"/>
                </a:solidFill>
                <a:effectLst/>
                <a:latin typeface="Arial" panose="020B0604020202020204" pitchFamily="34" charset="0"/>
                <a:ea typeface="Arial" panose="020B0604020202020204" pitchFamily="34" charset="0"/>
              </a:rPr>
              <a:t> </a:t>
            </a:r>
            <a:r>
              <a:rPr lang="en-US" sz="2800" b="1" dirty="0">
                <a:solidFill>
                  <a:srgbClr val="57C3A7"/>
                </a:solidFill>
                <a:effectLst/>
                <a:latin typeface="Arial" panose="020B0604020202020204" pitchFamily="34" charset="0"/>
                <a:ea typeface="Arial" panose="020B0604020202020204" pitchFamily="34" charset="0"/>
              </a:rPr>
              <a:t>Factors:</a:t>
            </a:r>
            <a:endParaRPr lang="en-US" sz="2800" dirty="0">
              <a:solidFill>
                <a:srgbClr val="000000"/>
              </a:solidFill>
              <a:effectLst/>
              <a:latin typeface="Arial" panose="020B0604020202020204" pitchFamily="34" charset="0"/>
              <a:ea typeface="Arial" panose="020B0604020202020204" pitchFamily="34" charset="0"/>
            </a:endParaRPr>
          </a:p>
          <a:p>
            <a:pPr marL="1053465" marR="2259330" eaLnBrk="0">
              <a:lnSpc>
                <a:spcPct val="105000"/>
              </a:lnSpc>
              <a:spcBef>
                <a:spcPts val="355"/>
              </a:spcBef>
              <a:buNone/>
            </a:pPr>
            <a:r>
              <a:rPr lang="en-US" sz="2000" b="1" spc="-10" dirty="0">
                <a:solidFill>
                  <a:srgbClr val="FFFFFF"/>
                </a:solidFill>
                <a:effectLst/>
                <a:latin typeface="Arial" panose="020B0604020202020204" pitchFamily="34" charset="0"/>
                <a:ea typeface="Arial" panose="020B0604020202020204" pitchFamily="34" charset="0"/>
              </a:rPr>
              <a:t>A</a:t>
            </a:r>
            <a:r>
              <a:rPr lang="en-US" sz="2000" b="1" spc="-5" dirty="0">
                <a:solidFill>
                  <a:srgbClr val="FFFFFF"/>
                </a:solidFill>
                <a:effectLst/>
                <a:latin typeface="Arial" panose="020B0604020202020204" pitchFamily="34" charset="0"/>
                <a:ea typeface="Arial" panose="020B0604020202020204" pitchFamily="34" charset="0"/>
              </a:rPr>
              <a:t>ge</a:t>
            </a:r>
            <a:r>
              <a:rPr lang="en-US" sz="2000" b="1" spc="5170" dirty="0">
                <a:solidFill>
                  <a:srgbClr val="FFFFFF"/>
                </a:solidFill>
                <a:effectLst/>
                <a:latin typeface="Arial" panose="020B0604020202020204" pitchFamily="34" charset="0"/>
                <a:ea typeface="Arial" panose="020B0604020202020204" pitchFamily="34" charset="0"/>
              </a:rPr>
              <a:t>    </a:t>
            </a:r>
            <a:r>
              <a:rPr lang="en-US" sz="2000" b="1" dirty="0">
                <a:solidFill>
                  <a:srgbClr val="FFFFFF"/>
                </a:solidFill>
                <a:effectLst/>
                <a:latin typeface="Arial" panose="020B0604020202020204" pitchFamily="34" charset="0"/>
                <a:ea typeface="Arial" panose="020B0604020202020204" pitchFamily="34" charset="0"/>
              </a:rPr>
              <a:t>Weight</a:t>
            </a:r>
            <a:r>
              <a:rPr lang="en-US" sz="2000" b="1" spc="3135" dirty="0">
                <a:solidFill>
                  <a:srgbClr val="FFFFFF"/>
                </a:solidFill>
                <a:latin typeface="Arial" panose="020B0604020202020204" pitchFamily="34" charset="0"/>
                <a:ea typeface="Arial" panose="020B0604020202020204" pitchFamily="34" charset="0"/>
              </a:rPr>
              <a:t> </a:t>
            </a:r>
          </a:p>
          <a:p>
            <a:pPr marL="1053465" marR="2259330" eaLnBrk="0">
              <a:lnSpc>
                <a:spcPct val="105000"/>
              </a:lnSpc>
              <a:spcBef>
                <a:spcPts val="355"/>
              </a:spcBef>
              <a:buNone/>
            </a:pPr>
            <a:r>
              <a:rPr lang="en-US" sz="2000" b="1" dirty="0">
                <a:solidFill>
                  <a:srgbClr val="FFFFFF"/>
                </a:solidFill>
                <a:effectLst/>
                <a:latin typeface="Arial" panose="020B0604020202020204" pitchFamily="34" charset="0"/>
                <a:ea typeface="Arial" panose="020B0604020202020204" pitchFamily="34" charset="0"/>
              </a:rPr>
              <a:t>Male</a:t>
            </a:r>
            <a:r>
              <a:rPr lang="en-US" sz="2000" b="1" spc="-5" dirty="0">
                <a:solidFill>
                  <a:srgbClr val="FFFFFF"/>
                </a:solidFill>
                <a:effectLst/>
                <a:latin typeface="Arial" panose="020B0604020202020204" pitchFamily="34" charset="0"/>
                <a:ea typeface="Arial" panose="020B0604020202020204" pitchFamily="34" charset="0"/>
              </a:rPr>
              <a:t> </a:t>
            </a:r>
            <a:r>
              <a:rPr lang="en-US" sz="2000" b="1" dirty="0">
                <a:solidFill>
                  <a:srgbClr val="FFFFFF"/>
                </a:solidFill>
                <a:effectLst/>
                <a:latin typeface="Arial" panose="020B0604020202020204" pitchFamily="34" charset="0"/>
                <a:ea typeface="Arial" panose="020B0604020202020204" pitchFamily="34" charset="0"/>
              </a:rPr>
              <a:t>gender		           underlying diseases</a:t>
            </a:r>
            <a:endParaRPr lang="en-US" sz="2000" b="1" spc="4785" dirty="0">
              <a:solidFill>
                <a:srgbClr val="FFFFFF"/>
              </a:solidFill>
              <a:effectLst/>
              <a:latin typeface="Arial" panose="020B0604020202020204" pitchFamily="34" charset="0"/>
              <a:ea typeface="Arial" panose="020B0604020202020204" pitchFamily="34" charset="0"/>
            </a:endParaRPr>
          </a:p>
          <a:p>
            <a:pPr marL="1053465" marR="2259330" eaLnBrk="0">
              <a:lnSpc>
                <a:spcPct val="105000"/>
              </a:lnSpc>
              <a:spcBef>
                <a:spcPts val="355"/>
              </a:spcBef>
              <a:buNone/>
            </a:pPr>
            <a:r>
              <a:rPr lang="en-US" sz="2000" b="1" dirty="0">
                <a:solidFill>
                  <a:srgbClr val="FFFFFF"/>
                </a:solidFill>
                <a:effectLst/>
                <a:latin typeface="Arial" panose="020B0604020202020204" pitchFamily="34" charset="0"/>
                <a:ea typeface="Arial" panose="020B0604020202020204" pitchFamily="34" charset="0"/>
              </a:rPr>
              <a:t>Smoking and alcohol use</a:t>
            </a:r>
            <a:r>
              <a:rPr lang="en-US" sz="2000" b="1" spc="1410" dirty="0">
                <a:solidFill>
                  <a:srgbClr val="FFFFFF"/>
                </a:solidFill>
                <a:latin typeface="Arial" panose="020B0604020202020204" pitchFamily="34" charset="0"/>
                <a:ea typeface="Arial" panose="020B0604020202020204" pitchFamily="34" charset="0"/>
              </a:rPr>
              <a:t> </a:t>
            </a:r>
            <a:r>
              <a:rPr lang="en-US" sz="2000" b="1" dirty="0">
                <a:solidFill>
                  <a:srgbClr val="FFFFFF"/>
                </a:solidFill>
                <a:effectLst/>
                <a:latin typeface="Arial" panose="020B0604020202020204" pitchFamily="34" charset="0"/>
                <a:ea typeface="Arial" panose="020B0604020202020204" pitchFamily="34" charset="0"/>
              </a:rPr>
              <a:t>Sleeping pills and sedatives </a:t>
            </a:r>
            <a:endParaRPr lang="en-US" sz="2000" dirty="0">
              <a:solidFill>
                <a:srgbClr val="000000"/>
              </a:solidFill>
              <a:effectLst/>
              <a:latin typeface="Arial" panose="020B0604020202020204" pitchFamily="34" charset="0"/>
              <a:ea typeface="Arial" panose="020B0604020202020204" pitchFamily="34" charset="0"/>
            </a:endParaRPr>
          </a:p>
          <a:p>
            <a:pPr marL="1053465" marR="0" eaLnBrk="0" latinLnBrk="1">
              <a:lnSpc>
                <a:spcPct val="98000"/>
              </a:lnSpc>
              <a:spcBef>
                <a:spcPts val="1910"/>
              </a:spcBef>
              <a:buNone/>
            </a:pPr>
            <a:r>
              <a:rPr lang="en-US" sz="2000" b="1" spc="5" dirty="0">
                <a:solidFill>
                  <a:srgbClr val="FFFFFF"/>
                </a:solidFill>
                <a:effectLst/>
                <a:latin typeface="Arial" panose="020B0604020202020204" pitchFamily="34" charset="0"/>
                <a:ea typeface="Arial" panose="020B0604020202020204" pitchFamily="34" charset="0"/>
              </a:rPr>
              <a:t>A</a:t>
            </a:r>
            <a:r>
              <a:rPr lang="en-US" sz="2000" b="1" dirty="0">
                <a:solidFill>
                  <a:srgbClr val="FFFFFF"/>
                </a:solidFill>
                <a:effectLst/>
                <a:latin typeface="Arial" panose="020B0604020202020204" pitchFamily="34" charset="0"/>
                <a:ea typeface="Arial" panose="020B0604020202020204" pitchFamily="34" charset="0"/>
              </a:rPr>
              <a:t>cetazolamide and </a:t>
            </a:r>
            <a:r>
              <a:rPr lang="en-US" sz="2000" b="1" dirty="0" err="1">
                <a:solidFill>
                  <a:srgbClr val="FFFFFF"/>
                </a:solidFill>
                <a:effectLst/>
                <a:latin typeface="Arial" panose="020B0604020202020204" pitchFamily="34" charset="0"/>
                <a:ea typeface="Arial" panose="020B0604020202020204" pitchFamily="34" charset="0"/>
              </a:rPr>
              <a:t>theophyllines</a:t>
            </a:r>
            <a:r>
              <a:rPr lang="en-US" sz="2000" b="1" dirty="0">
                <a:solidFill>
                  <a:srgbClr val="FFFFFF"/>
                </a:solidFill>
                <a:effectLst/>
                <a:latin typeface="Arial" panose="020B0604020202020204" pitchFamily="34" charset="0"/>
                <a:ea typeface="Arial" panose="020B0604020202020204" pitchFamily="34" charset="0"/>
              </a:rPr>
              <a:t> , </a:t>
            </a:r>
            <a:r>
              <a:rPr lang="en-US" sz="2000" b="1" dirty="0" err="1">
                <a:solidFill>
                  <a:srgbClr val="FFFFFF"/>
                </a:solidFill>
                <a:effectLst/>
                <a:latin typeface="Arial" panose="020B0604020202020204" pitchFamily="34" charset="0"/>
                <a:ea typeface="Arial" panose="020B0604020202020204" pitchFamily="34" charset="0"/>
              </a:rPr>
              <a:t>etc</a:t>
            </a:r>
            <a:endParaRPr lang="en-US" sz="2000" dirty="0">
              <a:solidFill>
                <a:srgbClr val="000000"/>
              </a:solidFill>
              <a:effectLst/>
              <a:latin typeface="Arial" panose="020B0604020202020204" pitchFamily="34" charset="0"/>
              <a:ea typeface="Arial" panose="020B0604020202020204" pitchFamily="34" charset="0"/>
            </a:endParaRPr>
          </a:p>
          <a:p>
            <a:pPr>
              <a:buNone/>
            </a:pPr>
            <a:br>
              <a:rPr lang="en-US" sz="1050" dirty="0">
                <a:effectLst/>
                <a:latin typeface="Arial" panose="020B0604020202020204" pitchFamily="34" charset="0"/>
                <a:ea typeface="Arial" panose="020B0604020202020204" pitchFamily="34" charset="0"/>
              </a:rPr>
            </a:br>
            <a:endParaRPr lang="en-US" dirty="0"/>
          </a:p>
          <a:p>
            <a:pPr>
              <a:buNone/>
            </a:pPr>
            <a:endParaRPr lang="en-US" sz="2000" b="1" dirty="0">
              <a:solidFill>
                <a:srgbClr val="57C3A7"/>
              </a:solidFill>
              <a:effectLst/>
              <a:latin typeface="Arial" panose="020B0604020202020204" pitchFamily="34" charset="0"/>
              <a:ea typeface="Arial" panose="020B0604020202020204" pitchFamily="34" charset="0"/>
            </a:endParaRPr>
          </a:p>
          <a:p>
            <a:pPr>
              <a:buNone/>
            </a:pPr>
            <a:br>
              <a:rPr lang="en-US" sz="1050" dirty="0">
                <a:effectLst/>
                <a:latin typeface="Arial" panose="020B0604020202020204" pitchFamily="34" charset="0"/>
                <a:ea typeface="Arial" panose="020B0604020202020204" pitchFamily="34" charset="0"/>
              </a:rPr>
            </a:br>
            <a:endParaRPr lang="en-US" dirty="0">
              <a:effectLst/>
            </a:endParaRPr>
          </a:p>
          <a:p>
            <a:pPr marL="0" marR="0" algn="just" eaLnBrk="0" latinLnBrk="1">
              <a:lnSpc>
                <a:spcPct val="207000"/>
              </a:lnSpc>
              <a:spcBef>
                <a:spcPts val="5"/>
              </a:spcBef>
              <a:spcAft>
                <a:spcPts val="1395"/>
              </a:spcAft>
              <a:buNone/>
            </a:pPr>
            <a:r>
              <a:rPr lang="en-US" sz="1000" dirty="0">
                <a:solidFill>
                  <a:srgbClr val="000000"/>
                </a:solidFill>
                <a:effectLst/>
                <a:latin typeface="Arial" panose="020B0604020202020204" pitchFamily="34" charset="0"/>
                <a:ea typeface="Arial" panose="020B0604020202020204" pitchFamily="34" charset="0"/>
              </a:rPr>
              <a:t> </a:t>
            </a:r>
            <a:endParaRPr lang="en-US" sz="1050" dirty="0">
              <a:solidFill>
                <a:srgbClr val="000000"/>
              </a:solidFill>
              <a:effectLst/>
              <a:latin typeface="Arial" panose="020B0604020202020204" pitchFamily="34" charset="0"/>
              <a:ea typeface="Arial" panose="020B0604020202020204" pitchFamily="34" charset="0"/>
            </a:endParaRPr>
          </a:p>
        </p:txBody>
      </p:sp>
      <p:pic>
        <p:nvPicPr>
          <p:cNvPr id="16" name="Image 254">
            <a:extLst>
              <a:ext uri="{FF2B5EF4-FFF2-40B4-BE49-F238E27FC236}">
                <a16:creationId xmlns:a16="http://schemas.microsoft.com/office/drawing/2014/main" id="{9BBDAEDD-0538-348D-12A6-CE7EE59119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139044" y="-1"/>
            <a:ext cx="2052955" cy="440055"/>
          </a:xfrm>
          <a:prstGeom prst="rect">
            <a:avLst/>
          </a:prstGeom>
        </p:spPr>
      </p:pic>
      <p:pic>
        <p:nvPicPr>
          <p:cNvPr id="17" name="Image 254">
            <a:extLst>
              <a:ext uri="{FF2B5EF4-FFF2-40B4-BE49-F238E27FC236}">
                <a16:creationId xmlns:a16="http://schemas.microsoft.com/office/drawing/2014/main" id="{4D1C0B3D-39D4-AE17-3AE8-67251CCA42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8095612" y="-2"/>
            <a:ext cx="2052955" cy="440055"/>
          </a:xfrm>
          <a:prstGeom prst="rect">
            <a:avLst/>
          </a:prstGeom>
        </p:spPr>
      </p:pic>
      <p:pic>
        <p:nvPicPr>
          <p:cNvPr id="18" name="Image 254">
            <a:extLst>
              <a:ext uri="{FF2B5EF4-FFF2-40B4-BE49-F238E27FC236}">
                <a16:creationId xmlns:a16="http://schemas.microsoft.com/office/drawing/2014/main" id="{34D81484-196E-AE84-56C3-C332E849E5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056945" y="-1905"/>
            <a:ext cx="2052955" cy="440055"/>
          </a:xfrm>
          <a:prstGeom prst="rect">
            <a:avLst/>
          </a:prstGeom>
        </p:spPr>
      </p:pic>
      <p:pic>
        <p:nvPicPr>
          <p:cNvPr id="19" name="Image 254">
            <a:extLst>
              <a:ext uri="{FF2B5EF4-FFF2-40B4-BE49-F238E27FC236}">
                <a16:creationId xmlns:a16="http://schemas.microsoft.com/office/drawing/2014/main" id="{3278E1F2-C74A-3585-5EFB-32506972DD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4013513" y="-1906"/>
            <a:ext cx="2052955" cy="440055"/>
          </a:xfrm>
          <a:prstGeom prst="rect">
            <a:avLst/>
          </a:prstGeom>
        </p:spPr>
      </p:pic>
      <p:pic>
        <p:nvPicPr>
          <p:cNvPr id="20" name="Image 254">
            <a:extLst>
              <a:ext uri="{FF2B5EF4-FFF2-40B4-BE49-F238E27FC236}">
                <a16:creationId xmlns:a16="http://schemas.microsoft.com/office/drawing/2014/main" id="{D25ACF60-C45F-EA43-C636-0EE64254787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999615" y="-1905"/>
            <a:ext cx="2052955" cy="440055"/>
          </a:xfrm>
          <a:prstGeom prst="rect">
            <a:avLst/>
          </a:prstGeom>
        </p:spPr>
      </p:pic>
      <p:pic>
        <p:nvPicPr>
          <p:cNvPr id="21" name="Image 254">
            <a:extLst>
              <a:ext uri="{FF2B5EF4-FFF2-40B4-BE49-F238E27FC236}">
                <a16:creationId xmlns:a16="http://schemas.microsoft.com/office/drawing/2014/main" id="{A0BE93CA-5894-BBDA-F458-2797ED87CB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43817" y="-1906"/>
            <a:ext cx="2052955" cy="440055"/>
          </a:xfrm>
          <a:prstGeom prst="rect">
            <a:avLst/>
          </a:prstGeom>
        </p:spPr>
      </p:pic>
    </p:spTree>
    <p:extLst>
      <p:ext uri="{BB962C8B-B14F-4D97-AF65-F5344CB8AC3E}">
        <p14:creationId xmlns:p14="http://schemas.microsoft.com/office/powerpoint/2010/main" val="2174230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E1D90-1F07-0010-5D41-DF804623BF5C}"/>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EE7FB7ED-CE97-ED81-9B95-155FA5AF4D38}"/>
              </a:ext>
            </a:extLst>
          </p:cNvPr>
          <p:cNvGrpSpPr/>
          <p:nvPr/>
        </p:nvGrpSpPr>
        <p:grpSpPr>
          <a:xfrm>
            <a:off x="0" y="0"/>
            <a:ext cx="12192000" cy="6858000"/>
            <a:chOff x="0" y="0"/>
            <a:chExt cx="12192000" cy="6858000"/>
          </a:xfrm>
        </p:grpSpPr>
        <p:sp>
          <p:nvSpPr>
            <p:cNvPr id="2118" name="Rectangle 2117">
              <a:extLst>
                <a:ext uri="{FF2B5EF4-FFF2-40B4-BE49-F238E27FC236}">
                  <a16:creationId xmlns:a16="http://schemas.microsoft.com/office/drawing/2014/main" id="{DE8E1802-C50D-71F2-F360-5A881708AF5B}"/>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157AAACA-597A-54FF-EA8D-76AE6D461349}"/>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6E019376-AD1E-F60D-4E30-6B3378B86103}"/>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766EACB-5C9E-FE72-8623-EF18C23B5544}"/>
              </a:ext>
            </a:extLst>
          </p:cNvPr>
          <p:cNvSpPr txBox="1"/>
          <p:nvPr/>
        </p:nvSpPr>
        <p:spPr>
          <a:xfrm>
            <a:off x="6096000" y="104027"/>
            <a:ext cx="6096000" cy="5021888"/>
          </a:xfrm>
          <a:prstGeom prst="rect">
            <a:avLst/>
          </a:prstGeom>
          <a:noFill/>
        </p:spPr>
        <p:txBody>
          <a:bodyPr wrap="square">
            <a:spAutoFit/>
          </a:bodyPr>
          <a:lstStyle/>
          <a:p>
            <a:pPr marL="0" marR="0" lvl="0" indent="0" algn="l" defTabSz="914400" rtl="0" eaLnBrk="0" fontAlgn="auto" latinLnBrk="1" hangingPunct="1">
              <a:lnSpc>
                <a:spcPct val="100000"/>
              </a:lnSpc>
              <a:spcBef>
                <a:spcPts val="1400"/>
              </a:spcBef>
              <a:spcAft>
                <a:spcPts val="255"/>
              </a:spcAft>
              <a:buClrTx/>
              <a:buSzTx/>
              <a:buFontTx/>
              <a:buNone/>
              <a:tabLst/>
              <a:defRPr/>
            </a:pPr>
            <a:r>
              <a:rPr kumimoji="0" lang="en-US" sz="2800" b="1" i="0" u="none" strike="noStrike" kern="1200" cap="none" spc="0"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Economic</a:t>
            </a:r>
            <a:r>
              <a:rPr kumimoji="0" lang="en-US" sz="2800" b="1" i="0" u="none" strike="noStrike" kern="1200" cap="none" spc="-5"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 </a:t>
            </a:r>
            <a:r>
              <a:rPr kumimoji="0" lang="en-US" sz="2800" b="1" i="0" u="none" strike="noStrike" kern="1200" cap="none" spc="0"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Burden:</a:t>
            </a:r>
            <a:endParaRPr lang="en-US" sz="2800" dirty="0">
              <a:solidFill>
                <a:srgbClr val="000000"/>
              </a:solidFill>
              <a:latin typeface="Arial" panose="020B0604020202020204" pitchFamily="34" charset="0"/>
              <a:ea typeface="Arial" panose="020B0604020202020204" pitchFamily="34" charset="0"/>
            </a:endParaRPr>
          </a:p>
          <a:p>
            <a:pPr lvl="0" eaLnBrk="0" latinLnBrk="1">
              <a:spcBef>
                <a:spcPts val="1400"/>
              </a:spcBef>
              <a:spcAft>
                <a:spcPts val="255"/>
              </a:spcAft>
              <a:defRPr/>
            </a:pPr>
            <a:r>
              <a:rPr lang="en-US" sz="2400" b="1" dirty="0">
                <a:solidFill>
                  <a:srgbClr val="FFFFFF"/>
                </a:solidFill>
                <a:latin typeface="Arial" panose="020B0604020202020204" pitchFamily="34" charset="0"/>
                <a:ea typeface="Arial" panose="020B0604020202020204" pitchFamily="34" charset="0"/>
              </a:rPr>
              <a:t>The economic burden </a:t>
            </a:r>
            <a:r>
              <a:rPr lang="en-US" sz="2400" b="1" dirty="0" err="1">
                <a:solidFill>
                  <a:srgbClr val="FFFFFF"/>
                </a:solidFill>
                <a:latin typeface="Arial" panose="020B0604020202020204" pitchFamily="34" charset="0"/>
                <a:ea typeface="Arial" panose="020B0604020202020204" pitchFamily="34" charset="0"/>
              </a:rPr>
              <a:t>ofundiagnosed</a:t>
            </a:r>
            <a:r>
              <a:rPr lang="en-US" sz="2400" b="1" dirty="0">
                <a:solidFill>
                  <a:srgbClr val="FFFFFF"/>
                </a:solidFill>
                <a:latin typeface="Arial" panose="020B0604020202020204" pitchFamily="34" charset="0"/>
                <a:ea typeface="Arial" panose="020B0604020202020204" pitchFamily="34" charset="0"/>
              </a:rPr>
              <a:t> obstructive sleep apnea in the United States is over 150 billion dollars. This cost is related to productivity reduction, complications caused by this disease on physical and mental health, and road accidents caused by sleepiness, so that 25% of accidents in Europe are related to this disease. </a:t>
            </a:r>
          </a:p>
          <a:p>
            <a:pPr lvl="0" eaLnBrk="0" latinLnBrk="1">
              <a:spcBef>
                <a:spcPts val="1400"/>
              </a:spcBef>
              <a:spcAft>
                <a:spcPts val="255"/>
              </a:spcAft>
              <a:defRPr/>
            </a:pPr>
            <a:r>
              <a:rPr lang="en-US" sz="2400" b="1" dirty="0">
                <a:solidFill>
                  <a:srgbClr val="FFFFFF"/>
                </a:solidFill>
                <a:latin typeface="Arial" panose="020B0604020202020204" pitchFamily="34" charset="0"/>
                <a:ea typeface="Arial" panose="020B0604020202020204" pitchFamily="34" charset="0"/>
              </a:rPr>
              <a:t>Effective treatment can prevent </a:t>
            </a:r>
            <a:br>
              <a:rPr lang="en-US" sz="2400" b="1" dirty="0">
                <a:solidFill>
                  <a:srgbClr val="FFFFFF"/>
                </a:solidFill>
                <a:latin typeface="Arial" panose="020B0604020202020204" pitchFamily="34" charset="0"/>
                <a:ea typeface="Arial" panose="020B0604020202020204" pitchFamily="34" charset="0"/>
              </a:rPr>
            </a:br>
            <a:r>
              <a:rPr lang="en-US" sz="2400" b="1" dirty="0">
                <a:solidFill>
                  <a:srgbClr val="FFFFFF"/>
                </a:solidFill>
                <a:latin typeface="Arial" panose="020B0604020202020204" pitchFamily="34" charset="0"/>
                <a:ea typeface="Arial" panose="020B0604020202020204" pitchFamily="34" charset="0"/>
              </a:rPr>
              <a:t>40,000 accidents per year. </a:t>
            </a:r>
          </a:p>
        </p:txBody>
      </p:sp>
      <p:sp>
        <p:nvSpPr>
          <p:cNvPr id="15" name="TextBox 14">
            <a:extLst>
              <a:ext uri="{FF2B5EF4-FFF2-40B4-BE49-F238E27FC236}">
                <a16:creationId xmlns:a16="http://schemas.microsoft.com/office/drawing/2014/main" id="{C396EDF5-C57A-F69A-7E5E-6AAA8D5CA2AE}"/>
              </a:ext>
            </a:extLst>
          </p:cNvPr>
          <p:cNvSpPr txBox="1"/>
          <p:nvPr/>
        </p:nvSpPr>
        <p:spPr>
          <a:xfrm>
            <a:off x="200025" y="104028"/>
            <a:ext cx="6591300" cy="60339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Primary</a:t>
            </a:r>
            <a:r>
              <a:rPr kumimoji="0" lang="en-US" sz="2800" b="1" i="0" u="none" strike="noStrike" kern="1200" cap="none" spc="-5"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 </a:t>
            </a:r>
            <a:r>
              <a:rPr kumimoji="0" lang="en-US" sz="2800" b="1" i="0" u="none" strike="noStrike" kern="1200" cap="none" spc="0"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Complications:</a:t>
            </a:r>
            <a:endParaRPr kumimoji="0" lang="en-US" sz="28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0" marR="462280" lvl="0" indent="0" algn="l" defTabSz="914400" rtl="0" eaLnBrk="0" fontAlgn="auto" latinLnBrk="0" hangingPunct="1">
              <a:lnSpc>
                <a:spcPct val="105000"/>
              </a:lnSpc>
              <a:spcBef>
                <a:spcPts val="65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Excessive fatigue during the day Morning headaches</a:t>
            </a:r>
            <a:r>
              <a:rPr kumimoji="0" lang="en-US" sz="2400" b="1" i="0" u="none" strike="noStrike" kern="1200" cap="none" spc="817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Forgetfulness and difficulty</a:t>
            </a:r>
            <a:r>
              <a:rPr kumimoji="0" lang="en-US" sz="2400" b="1" i="0" u="none" strike="noStrike" kern="1200" cap="none" spc="301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concentrating </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0" marR="0" lvl="0" indent="0" algn="l" defTabSz="914400" rtl="0" eaLnBrk="0" fontAlgn="auto" latinLnBrk="1" hangingPunct="1">
              <a:lnSpc>
                <a:spcPct val="98000"/>
              </a:lnSpc>
              <a:spcBef>
                <a:spcPts val="0"/>
              </a:spcBef>
              <a:spcAft>
                <a:spcPts val="55"/>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Mood</a:t>
            </a:r>
            <a:r>
              <a:rPr kumimoji="0" lang="en-US" sz="2400" b="1" i="0" u="none" strike="noStrike" kern="1200" cap="none" spc="-1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problems</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0" marR="1058545" lvl="0" indent="0" algn="l" defTabSz="914400" rtl="0" eaLnBrk="0" fontAlgn="auto" latinLnBrk="0" hangingPunct="1">
              <a:lnSpc>
                <a:spcPct val="105000"/>
              </a:lnSpc>
              <a:spcBef>
                <a:spcPts val="70"/>
              </a:spcBef>
              <a:spcAft>
                <a:spcPts val="40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Sexual</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problems</a:t>
            </a:r>
            <a:r>
              <a:rPr kumimoji="0" lang="en-US" sz="2400" b="1" i="0" u="none" strike="noStrike" kern="1200" cap="none" spc="541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p>
          <a:p>
            <a:pPr marL="0" marR="1058545" lvl="0" indent="0" algn="l" defTabSz="914400" rtl="0" eaLnBrk="0" fontAlgn="auto" latinLnBrk="0" hangingPunct="1">
              <a:lnSpc>
                <a:spcPct val="105000"/>
              </a:lnSpc>
              <a:spcBef>
                <a:spcPts val="70"/>
              </a:spcBef>
              <a:spcAft>
                <a:spcPts val="40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Frequent urination</a:t>
            </a:r>
            <a:r>
              <a:rPr kumimoji="0" lang="en-US" sz="2400" b="1" i="0" u="none" strike="noStrike" kern="1200" cap="none" spc="425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p>
          <a:p>
            <a:pPr marL="0" marR="1058545" lvl="0" indent="0" algn="l" defTabSz="914400" rtl="0" eaLnBrk="0" fontAlgn="auto" latinLnBrk="0" hangingPunct="1">
              <a:lnSpc>
                <a:spcPct val="105000"/>
              </a:lnSpc>
              <a:spcBef>
                <a:spcPts val="70"/>
              </a:spcBef>
              <a:spcAft>
                <a:spcPts val="40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Snoring</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and</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night</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sweats </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13335" marR="0" lvl="0" indent="0" algn="l" defTabSz="914400" rtl="0" eaLnBrk="0" fontAlgn="auto" latinLnBrk="1" hangingPunct="1">
              <a:lnSpc>
                <a:spcPct val="100000"/>
              </a:lnSpc>
              <a:spcBef>
                <a:spcPts val="405"/>
              </a:spcBef>
              <a:spcAft>
                <a:spcPts val="555"/>
              </a:spcAft>
              <a:buClrTx/>
              <a:buSzTx/>
              <a:buFontTx/>
              <a:buNone/>
              <a:tabLst/>
              <a:defRPr/>
            </a:pPr>
            <a:r>
              <a:rPr kumimoji="0" lang="en-US" sz="2800" b="1" i="0" u="none" strike="noStrike" kern="1200" cap="none" spc="0"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Secondary</a:t>
            </a:r>
            <a:r>
              <a:rPr kumimoji="0" lang="en-US" sz="2800" b="1" i="0" u="none" strike="noStrike" kern="1200" cap="none" spc="-5"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 </a:t>
            </a:r>
            <a:r>
              <a:rPr kumimoji="0" lang="en-US" sz="2800" b="1" i="0" u="none" strike="noStrike" kern="1200" cap="none" spc="0" normalizeH="0" baseline="0" noProof="0" dirty="0">
                <a:ln>
                  <a:noFill/>
                </a:ln>
                <a:solidFill>
                  <a:srgbClr val="57C3A7"/>
                </a:solidFill>
                <a:effectLst/>
                <a:uLnTx/>
                <a:uFillTx/>
                <a:latin typeface="Arial" panose="020B0604020202020204" pitchFamily="34" charset="0"/>
                <a:ea typeface="Arial" panose="020B0604020202020204" pitchFamily="34" charset="0"/>
                <a:cs typeface="+mn-cs"/>
              </a:rPr>
              <a:t>Complications:</a:t>
            </a:r>
            <a:endParaRPr kumimoji="0" lang="en-US" sz="28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13335" marR="0" lvl="0" indent="0" algn="l" defTabSz="914400" rtl="0" eaLnBrk="0" fontAlgn="auto" latinLnBrk="1" hangingPunct="1">
              <a:lnSpc>
                <a:spcPct val="100000"/>
              </a:lnSpc>
              <a:spcBef>
                <a:spcPts val="560"/>
              </a:spcBef>
              <a:spcAft>
                <a:spcPts val="3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Heart</a:t>
            </a:r>
            <a:r>
              <a:rPr kumimoji="0" lang="en-US" sz="2400" b="1" i="0" u="none" strike="noStrike" kern="1200" cap="none" spc="-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failure</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13335" marR="1499235" lvl="0" indent="0" algn="l" defTabSz="914400" rtl="0" eaLnBrk="0" fontAlgn="auto" latinLnBrk="0" hangingPunct="1">
              <a:lnSpc>
                <a:spcPct val="105000"/>
              </a:lnSpc>
              <a:spcBef>
                <a:spcPts val="4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high blood pressure</a:t>
            </a:r>
            <a:r>
              <a:rPr lang="en-US" sz="2400" b="1" dirty="0">
                <a:solidFill>
                  <a:srgbClr val="FFFFFF"/>
                </a:solidFill>
                <a:latin typeface="Arial" panose="020B0604020202020204" pitchFamily="34" charset="0"/>
                <a:ea typeface="Arial" panose="020B0604020202020204" pitchFamily="34" charset="0"/>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diabetes </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13335" marR="1242695" lvl="0" indent="0" algn="l" defTabSz="914400" rtl="0" eaLnBrk="0" fontAlgn="auto" latinLnBrk="0" hangingPunct="1">
              <a:lnSpc>
                <a:spcPct val="105000"/>
              </a:lnSpc>
              <a:spcBef>
                <a:spcPts val="1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Heart</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attack</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and</a:t>
            </a:r>
            <a:r>
              <a:rPr kumimoji="0" lang="en-US" sz="2400" b="1" i="0" u="none" strike="noStrike" kern="1200" cap="none" spc="-15"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 </a:t>
            </a: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stroke Alzheimer </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a:p>
            <a:pPr marL="13335" marR="0" lvl="0" indent="0" algn="l" defTabSz="914400" rtl="0" eaLnBrk="0" fontAlgn="auto" latinLnBrk="1" hangingPunct="1">
              <a:lnSpc>
                <a:spcPct val="97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anose="020B0604020202020204" pitchFamily="34" charset="0"/>
                <a:ea typeface="Arial" panose="020B0604020202020204" pitchFamily="34" charset="0"/>
                <a:cs typeface="+mn-cs"/>
              </a:rPr>
              <a:t>depression</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endParaRPr>
          </a:p>
        </p:txBody>
      </p:sp>
      <p:pic>
        <p:nvPicPr>
          <p:cNvPr id="2" name="Image 254">
            <a:extLst>
              <a:ext uri="{FF2B5EF4-FFF2-40B4-BE49-F238E27FC236}">
                <a16:creationId xmlns:a16="http://schemas.microsoft.com/office/drawing/2014/main" id="{A1E7C7F3-1DDA-5C43-F15E-D304795F1C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0182861" y="6315822"/>
            <a:ext cx="2052955" cy="440055"/>
          </a:xfrm>
          <a:prstGeom prst="rect">
            <a:avLst/>
          </a:prstGeom>
        </p:spPr>
      </p:pic>
      <p:pic>
        <p:nvPicPr>
          <p:cNvPr id="3" name="Image 254">
            <a:extLst>
              <a:ext uri="{FF2B5EF4-FFF2-40B4-BE49-F238E27FC236}">
                <a16:creationId xmlns:a16="http://schemas.microsoft.com/office/drawing/2014/main" id="{356BC8E5-2FCB-6C1C-9AB8-3CDBA973E2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8139429" y="6315821"/>
            <a:ext cx="2052955" cy="440055"/>
          </a:xfrm>
          <a:prstGeom prst="rect">
            <a:avLst/>
          </a:prstGeom>
        </p:spPr>
      </p:pic>
      <p:pic>
        <p:nvPicPr>
          <p:cNvPr id="4" name="Image 254">
            <a:extLst>
              <a:ext uri="{FF2B5EF4-FFF2-40B4-BE49-F238E27FC236}">
                <a16:creationId xmlns:a16="http://schemas.microsoft.com/office/drawing/2014/main" id="{EBE30C50-0D89-1E89-EF46-E0A09E829A3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100762" y="6313918"/>
            <a:ext cx="2052955" cy="440055"/>
          </a:xfrm>
          <a:prstGeom prst="rect">
            <a:avLst/>
          </a:prstGeom>
        </p:spPr>
      </p:pic>
      <p:pic>
        <p:nvPicPr>
          <p:cNvPr id="5" name="Image 254">
            <a:extLst>
              <a:ext uri="{FF2B5EF4-FFF2-40B4-BE49-F238E27FC236}">
                <a16:creationId xmlns:a16="http://schemas.microsoft.com/office/drawing/2014/main" id="{5CC1B7F2-8404-5E7E-D513-0268A0F968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4057330" y="6313917"/>
            <a:ext cx="2052955" cy="440055"/>
          </a:xfrm>
          <a:prstGeom prst="rect">
            <a:avLst/>
          </a:prstGeom>
        </p:spPr>
      </p:pic>
      <p:pic>
        <p:nvPicPr>
          <p:cNvPr id="6" name="Image 254">
            <a:extLst>
              <a:ext uri="{FF2B5EF4-FFF2-40B4-BE49-F238E27FC236}">
                <a16:creationId xmlns:a16="http://schemas.microsoft.com/office/drawing/2014/main" id="{A697AAD5-2492-95F5-4B92-69B46375BCE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2043432" y="6313918"/>
            <a:ext cx="2052955" cy="440055"/>
          </a:xfrm>
          <a:prstGeom prst="rect">
            <a:avLst/>
          </a:prstGeom>
        </p:spPr>
      </p:pic>
      <p:pic>
        <p:nvPicPr>
          <p:cNvPr id="7" name="Image 254">
            <a:extLst>
              <a:ext uri="{FF2B5EF4-FFF2-40B4-BE49-F238E27FC236}">
                <a16:creationId xmlns:a16="http://schemas.microsoft.com/office/drawing/2014/main" id="{FB14C5B5-1E09-31F8-5E29-C9D2DCA0D22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6313917"/>
            <a:ext cx="2052955" cy="440055"/>
          </a:xfrm>
          <a:prstGeom prst="rect">
            <a:avLst/>
          </a:prstGeom>
        </p:spPr>
      </p:pic>
    </p:spTree>
    <p:extLst>
      <p:ext uri="{BB962C8B-B14F-4D97-AF65-F5344CB8AC3E}">
        <p14:creationId xmlns:p14="http://schemas.microsoft.com/office/powerpoint/2010/main" val="2445725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878BE-170D-1123-F89C-10EB478C10CA}"/>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55E64D4A-4E43-8A24-DAD0-8D2D7D963623}"/>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EE5ECE0F-441F-7848-80D8-7516CA1669D6}"/>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EFF6C38B-2B78-861B-2364-9439A25D58CD}"/>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C4366ED0-EEC6-5E38-3732-72C715CDE322}"/>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F00876DB-E1B5-6769-87AD-358641B2908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47116B27-AF85-0052-7750-4FD00BD3614F}"/>
              </a:ext>
            </a:extLst>
          </p:cNvPr>
          <p:cNvSpPr txBox="1"/>
          <p:nvPr/>
        </p:nvSpPr>
        <p:spPr>
          <a:xfrm>
            <a:off x="191135" y="219481"/>
            <a:ext cx="7439025" cy="6494085"/>
          </a:xfrm>
          <a:prstGeom prst="rect">
            <a:avLst/>
          </a:prstGeom>
          <a:noFill/>
        </p:spPr>
        <p:txBody>
          <a:bodyPr wrap="square">
            <a:spAutoFit/>
          </a:bodyPr>
          <a:lstStyle/>
          <a:p>
            <a:pPr>
              <a:buNone/>
            </a:pPr>
            <a:r>
              <a:rPr lang="en-US" sz="3600" b="1" dirty="0">
                <a:solidFill>
                  <a:srgbClr val="FFFF00"/>
                </a:solidFill>
              </a:rPr>
              <a:t>Primary Objectives:</a:t>
            </a:r>
          </a:p>
          <a:p>
            <a:pPr>
              <a:buNone/>
            </a:pPr>
            <a:endParaRPr lang="en-US" sz="2400" b="1" dirty="0">
              <a:solidFill>
                <a:schemeClr val="bg1"/>
              </a:solidFill>
            </a:endParaRPr>
          </a:p>
          <a:p>
            <a:pPr>
              <a:buFont typeface="Arial" panose="020B0604020202020204" pitchFamily="34" charset="0"/>
              <a:buChar char="•"/>
            </a:pPr>
            <a:r>
              <a:rPr lang="en-US" sz="2400" dirty="0">
                <a:solidFill>
                  <a:schemeClr val="bg1"/>
                </a:solidFill>
              </a:rPr>
              <a:t>Early detection of obstructive sleep apnea</a:t>
            </a:r>
          </a:p>
          <a:p>
            <a:pPr>
              <a:buFont typeface="Arial" panose="020B0604020202020204" pitchFamily="34" charset="0"/>
              <a:buChar char="•"/>
            </a:pPr>
            <a:endParaRPr lang="en-US" sz="2400" dirty="0">
              <a:solidFill>
                <a:schemeClr val="bg1"/>
              </a:solidFill>
            </a:endParaRPr>
          </a:p>
          <a:p>
            <a:pPr>
              <a:buFont typeface="Arial" panose="020B0604020202020204" pitchFamily="34" charset="0"/>
              <a:buChar char="•"/>
            </a:pPr>
            <a:r>
              <a:rPr lang="en-US" sz="2400" dirty="0">
                <a:solidFill>
                  <a:schemeClr val="bg1"/>
                </a:solidFill>
              </a:rPr>
              <a:t>Monitoring the severity, depth, and duration of respiratory interruptions during sleep</a:t>
            </a:r>
          </a:p>
          <a:p>
            <a:pPr>
              <a:buFont typeface="Arial" panose="020B0604020202020204" pitchFamily="34" charset="0"/>
              <a:buChar char="•"/>
            </a:pPr>
            <a:endParaRPr lang="en-US" sz="2400" dirty="0">
              <a:solidFill>
                <a:schemeClr val="bg1"/>
              </a:solidFill>
            </a:endParaRPr>
          </a:p>
          <a:p>
            <a:pPr>
              <a:buFont typeface="Arial" panose="020B0604020202020204" pitchFamily="34" charset="0"/>
              <a:buChar char="•"/>
            </a:pPr>
            <a:r>
              <a:rPr lang="en-US" sz="2400" dirty="0">
                <a:solidFill>
                  <a:schemeClr val="bg1"/>
                </a:solidFill>
              </a:rPr>
              <a:t>Reducing diagnosis and treatment costs</a:t>
            </a:r>
          </a:p>
          <a:p>
            <a:pPr>
              <a:buFont typeface="Arial" panose="020B0604020202020204" pitchFamily="34" charset="0"/>
              <a:buChar char="•"/>
            </a:pPr>
            <a:endParaRPr lang="en-US" sz="2400" dirty="0">
              <a:solidFill>
                <a:schemeClr val="bg1"/>
              </a:solidFill>
            </a:endParaRPr>
          </a:p>
          <a:p>
            <a:pPr>
              <a:buFont typeface="Arial" panose="020B0604020202020204" pitchFamily="34" charset="0"/>
              <a:buChar char="•"/>
            </a:pPr>
            <a:r>
              <a:rPr lang="en-US" sz="2400" dirty="0">
                <a:solidFill>
                  <a:schemeClr val="bg1"/>
                </a:solidFill>
              </a:rPr>
              <a:t>Preventing secondary complications such as cardiovascular diseases, stroke, depression, and road accidents</a:t>
            </a:r>
          </a:p>
          <a:p>
            <a:pPr>
              <a:buFont typeface="Arial" panose="020B0604020202020204" pitchFamily="34" charset="0"/>
              <a:buChar char="•"/>
            </a:pPr>
            <a:endParaRPr lang="en-US" sz="2400" dirty="0">
              <a:solidFill>
                <a:schemeClr val="bg1"/>
              </a:solidFill>
            </a:endParaRPr>
          </a:p>
          <a:p>
            <a:pPr>
              <a:buFont typeface="Arial" panose="020B0604020202020204" pitchFamily="34" charset="0"/>
              <a:buChar char="•"/>
            </a:pPr>
            <a:r>
              <a:rPr lang="en-US" sz="2400" dirty="0">
                <a:solidFill>
                  <a:schemeClr val="bg1"/>
                </a:solidFill>
              </a:rPr>
              <a:t>Utilizing artificial intelligence to analyze respiratory data</a:t>
            </a:r>
          </a:p>
          <a:p>
            <a:pPr>
              <a:buFont typeface="Arial" panose="020B0604020202020204" pitchFamily="34" charset="0"/>
              <a:buChar char="•"/>
            </a:pPr>
            <a:endParaRPr lang="en-US" sz="2400" dirty="0">
              <a:solidFill>
                <a:schemeClr val="bg1"/>
              </a:solidFill>
            </a:endParaRPr>
          </a:p>
          <a:p>
            <a:pPr>
              <a:buFont typeface="Arial" panose="020B0604020202020204" pitchFamily="34" charset="0"/>
              <a:buChar char="•"/>
            </a:pPr>
            <a:r>
              <a:rPr lang="en-US" sz="2400" dirty="0">
                <a:solidFill>
                  <a:schemeClr val="bg1"/>
                </a:solidFill>
              </a:rPr>
              <a:t>Enabling remote interaction between patients and physicians through telemedicine</a:t>
            </a:r>
          </a:p>
        </p:txBody>
      </p:sp>
      <p:sp>
        <p:nvSpPr>
          <p:cNvPr id="12" name="Freeform: Shape 11">
            <a:extLst>
              <a:ext uri="{FF2B5EF4-FFF2-40B4-BE49-F238E27FC236}">
                <a16:creationId xmlns:a16="http://schemas.microsoft.com/office/drawing/2014/main" id="{6CC3A683-DE38-9574-F17C-6CB322C5A45E}"/>
              </a:ext>
            </a:extLst>
          </p:cNvPr>
          <p:cNvSpPr/>
          <p:nvPr/>
        </p:nvSpPr>
        <p:spPr>
          <a:xfrm>
            <a:off x="9551034" y="34062"/>
            <a:ext cx="1134745" cy="789940"/>
          </a:xfrm>
          <a:custGeom>
            <a:avLst/>
            <a:gdLst/>
            <a:ahLst/>
            <a:cxnLst/>
            <a:rect l="l" t="t" r="r" b="b"/>
            <a:pathLst>
              <a:path w="1134746" h="790448">
                <a:moveTo>
                  <a:pt x="445760" y="767052"/>
                </a:moveTo>
                <a:lnTo>
                  <a:pt x="453139" y="763808"/>
                </a:lnTo>
                <a:lnTo>
                  <a:pt x="453390" y="763651"/>
                </a:lnTo>
                <a:lnTo>
                  <a:pt x="453832" y="763272"/>
                </a:lnTo>
                <a:lnTo>
                  <a:pt x="522670" y="708470"/>
                </a:lnTo>
                <a:lnTo>
                  <a:pt x="593000" y="653666"/>
                </a:lnTo>
                <a:lnTo>
                  <a:pt x="593472" y="653288"/>
                </a:lnTo>
                <a:lnTo>
                  <a:pt x="594452" y="652480"/>
                </a:lnTo>
                <a:lnTo>
                  <a:pt x="823976" y="468884"/>
                </a:lnTo>
                <a:lnTo>
                  <a:pt x="1056657" y="288441"/>
                </a:lnTo>
                <a:lnTo>
                  <a:pt x="1057656" y="287655"/>
                </a:lnTo>
                <a:lnTo>
                  <a:pt x="1058632" y="286899"/>
                </a:lnTo>
                <a:lnTo>
                  <a:pt x="1075946" y="272820"/>
                </a:lnTo>
                <a:lnTo>
                  <a:pt x="1103781" y="242312"/>
                </a:lnTo>
                <a:lnTo>
                  <a:pt x="1122196" y="207830"/>
                </a:lnTo>
                <a:lnTo>
                  <a:pt x="1129777" y="168083"/>
                </a:lnTo>
                <a:lnTo>
                  <a:pt x="1128523" y="145532"/>
                </a:lnTo>
                <a:lnTo>
                  <a:pt x="1128396" y="144273"/>
                </a:lnTo>
                <a:lnTo>
                  <a:pt x="1128436" y="143937"/>
                </a:lnTo>
                <a:lnTo>
                  <a:pt x="1122806" y="96647"/>
                </a:lnTo>
                <a:lnTo>
                  <a:pt x="1106754" y="-5"/>
                </a:lnTo>
                <a:lnTo>
                  <a:pt x="18241" y="-5"/>
                </a:lnTo>
                <a:lnTo>
                  <a:pt x="27815" y="21590"/>
                </a:lnTo>
                <a:lnTo>
                  <a:pt x="28355" y="22739"/>
                </a:lnTo>
                <a:lnTo>
                  <a:pt x="53416" y="74806"/>
                </a:lnTo>
                <a:lnTo>
                  <a:pt x="103315" y="164543"/>
                </a:lnTo>
                <a:lnTo>
                  <a:pt x="127126" y="198539"/>
                </a:lnTo>
                <a:lnTo>
                  <a:pt x="127762" y="199390"/>
                </a:lnTo>
                <a:lnTo>
                  <a:pt x="128520" y="200409"/>
                </a:lnTo>
                <a:lnTo>
                  <a:pt x="139337" y="216354"/>
                </a:lnTo>
                <a:lnTo>
                  <a:pt x="150933" y="246709"/>
                </a:lnTo>
                <a:lnTo>
                  <a:pt x="152881" y="274758"/>
                </a:lnTo>
                <a:lnTo>
                  <a:pt x="147844" y="299989"/>
                </a:lnTo>
                <a:lnTo>
                  <a:pt x="133059" y="331944"/>
                </a:lnTo>
                <a:lnTo>
                  <a:pt x="113046" y="359350"/>
                </a:lnTo>
                <a:lnTo>
                  <a:pt x="110490" y="364682"/>
                </a:lnTo>
                <a:lnTo>
                  <a:pt x="110490" y="364871"/>
                </a:lnTo>
                <a:lnTo>
                  <a:pt x="111130" y="365968"/>
                </a:lnTo>
                <a:lnTo>
                  <a:pt x="162419" y="452975"/>
                </a:lnTo>
                <a:lnTo>
                  <a:pt x="255798" y="615821"/>
                </a:lnTo>
                <a:lnTo>
                  <a:pt x="300320" y="705734"/>
                </a:lnTo>
                <a:lnTo>
                  <a:pt x="300865" y="706882"/>
                </a:lnTo>
                <a:lnTo>
                  <a:pt x="301405" y="708030"/>
                </a:lnTo>
                <a:lnTo>
                  <a:pt x="309167" y="722692"/>
                </a:lnTo>
                <a:lnTo>
                  <a:pt x="328639" y="744758"/>
                </a:lnTo>
                <a:lnTo>
                  <a:pt x="351262" y="759300"/>
                </a:lnTo>
                <a:lnTo>
                  <a:pt x="375280" y="767640"/>
                </a:lnTo>
                <a:lnTo>
                  <a:pt x="410453" y="771766"/>
                </a:lnTo>
                <a:close/>
              </a:path>
            </a:pathLst>
          </a:custGeom>
          <a:solidFill>
            <a:srgbClr val="FBC9C8">
              <a:alpha val="100000"/>
            </a:srgbClr>
          </a:solidFill>
        </p:spPr>
        <p:txBody>
          <a:bodyPr/>
          <a:lstStyle/>
          <a:p>
            <a:endParaRPr lang="en-US"/>
          </a:p>
        </p:txBody>
      </p:sp>
      <p:sp>
        <p:nvSpPr>
          <p:cNvPr id="13" name="Freeform: Shape 12">
            <a:extLst>
              <a:ext uri="{FF2B5EF4-FFF2-40B4-BE49-F238E27FC236}">
                <a16:creationId xmlns:a16="http://schemas.microsoft.com/office/drawing/2014/main" id="{24CDCE30-62B1-09D1-A085-973168224132}"/>
              </a:ext>
            </a:extLst>
          </p:cNvPr>
          <p:cNvSpPr/>
          <p:nvPr/>
        </p:nvSpPr>
        <p:spPr>
          <a:xfrm>
            <a:off x="7512049" y="219482"/>
            <a:ext cx="4679950" cy="6652260"/>
          </a:xfrm>
          <a:custGeom>
            <a:avLst/>
            <a:gdLst/>
            <a:ahLst/>
            <a:cxnLst/>
            <a:rect l="l" t="t" r="r" b="b"/>
            <a:pathLst>
              <a:path w="4680204" h="6652260">
                <a:moveTo>
                  <a:pt x="2109470" y="285496"/>
                </a:moveTo>
                <a:cubicBezTo>
                  <a:pt x="2096897" y="791210"/>
                  <a:pt x="1922018" y="1537843"/>
                  <a:pt x="1814830" y="2276602"/>
                </a:cubicBezTo>
                <a:cubicBezTo>
                  <a:pt x="1665223" y="3303651"/>
                  <a:pt x="1676273" y="4084955"/>
                  <a:pt x="1621155" y="4945126"/>
                </a:cubicBezTo>
                <a:cubicBezTo>
                  <a:pt x="1597025" y="5324856"/>
                  <a:pt x="1563750" y="5960847"/>
                  <a:pt x="1534160" y="6556224"/>
                </a:cubicBezTo>
                <a:lnTo>
                  <a:pt x="1529334" y="6652260"/>
                </a:lnTo>
                <a:lnTo>
                  <a:pt x="872871" y="6652260"/>
                </a:lnTo>
                <a:lnTo>
                  <a:pt x="1012951" y="4236212"/>
                </a:lnTo>
                <a:lnTo>
                  <a:pt x="745108" y="5135753"/>
                </a:lnTo>
                <a:lnTo>
                  <a:pt x="0" y="5167249"/>
                </a:lnTo>
                <a:cubicBezTo>
                  <a:pt x="0" y="5167249"/>
                  <a:pt x="67690" y="4689856"/>
                  <a:pt x="170180" y="3960622"/>
                </a:cubicBezTo>
                <a:cubicBezTo>
                  <a:pt x="272542" y="3231261"/>
                  <a:pt x="592327" y="2108073"/>
                  <a:pt x="639571" y="1874901"/>
                </a:cubicBezTo>
                <a:cubicBezTo>
                  <a:pt x="686815" y="1641856"/>
                  <a:pt x="1024000" y="955040"/>
                  <a:pt x="1293368" y="794258"/>
                </a:cubicBezTo>
                <a:cubicBezTo>
                  <a:pt x="1562861" y="633603"/>
                  <a:pt x="2035429" y="513969"/>
                  <a:pt x="2035429" y="513969"/>
                </a:cubicBezTo>
                <a:lnTo>
                  <a:pt x="2082673" y="309118"/>
                </a:lnTo>
                <a:cubicBezTo>
                  <a:pt x="2082673" y="309118"/>
                  <a:pt x="2081148" y="302895"/>
                  <a:pt x="2109470" y="285496"/>
                </a:cubicBezTo>
                <a:moveTo>
                  <a:pt x="3395980" y="0"/>
                </a:moveTo>
                <a:cubicBezTo>
                  <a:pt x="3432048" y="0"/>
                  <a:pt x="3454908" y="2032"/>
                  <a:pt x="3454908" y="2032"/>
                </a:cubicBezTo>
                <a:lnTo>
                  <a:pt x="3675380" y="316992"/>
                </a:lnTo>
                <a:cubicBezTo>
                  <a:pt x="3675380" y="316992"/>
                  <a:pt x="4234688" y="498221"/>
                  <a:pt x="4472558" y="647827"/>
                </a:cubicBezTo>
                <a:cubicBezTo>
                  <a:pt x="4531995" y="685292"/>
                  <a:pt x="4583430" y="726059"/>
                  <a:pt x="4628261" y="770255"/>
                </a:cubicBezTo>
                <a:lnTo>
                  <a:pt x="4680204" y="827659"/>
                </a:lnTo>
                <a:lnTo>
                  <a:pt x="4680204" y="4112895"/>
                </a:lnTo>
                <a:lnTo>
                  <a:pt x="4602480" y="4144264"/>
                </a:lnTo>
                <a:cubicBezTo>
                  <a:pt x="4518025" y="4173728"/>
                  <a:pt x="4433951" y="4198493"/>
                  <a:pt x="4352798" y="4217289"/>
                </a:cubicBezTo>
                <a:cubicBezTo>
                  <a:pt x="4402455" y="4420489"/>
                  <a:pt x="4394581" y="5437759"/>
                  <a:pt x="4374261" y="6404179"/>
                </a:cubicBezTo>
                <a:lnTo>
                  <a:pt x="4368673" y="6652260"/>
                </a:lnTo>
                <a:lnTo>
                  <a:pt x="2130044" y="6652260"/>
                </a:lnTo>
                <a:lnTo>
                  <a:pt x="2131441" y="6596018"/>
                </a:lnTo>
                <a:cubicBezTo>
                  <a:pt x="2160270" y="5472481"/>
                  <a:pt x="2208784" y="3993515"/>
                  <a:pt x="2279650" y="3102102"/>
                </a:cubicBezTo>
                <a:cubicBezTo>
                  <a:pt x="2396235" y="1630807"/>
                  <a:pt x="2704973" y="591058"/>
                  <a:pt x="3309873" y="143764"/>
                </a:cubicBezTo>
                <a:cubicBezTo>
                  <a:pt x="3289427" y="101219"/>
                  <a:pt x="3284727" y="63373"/>
                  <a:pt x="3257931" y="9906"/>
                </a:cubicBezTo>
                <a:cubicBezTo>
                  <a:pt x="3310762" y="2032"/>
                  <a:pt x="3359911" y="0"/>
                  <a:pt x="3395980" y="0"/>
                </a:cubicBezTo>
              </a:path>
            </a:pathLst>
          </a:custGeom>
          <a:solidFill>
            <a:srgbClr val="FFFFFF">
              <a:alpha val="100000"/>
            </a:srgbClr>
          </a:solidFill>
        </p:spPr>
        <p:txBody>
          <a:bodyPr/>
          <a:lstStyle/>
          <a:p>
            <a:endParaRPr lang="en-US"/>
          </a:p>
        </p:txBody>
      </p:sp>
      <p:sp>
        <p:nvSpPr>
          <p:cNvPr id="19" name="Freeform: Shape 18">
            <a:extLst>
              <a:ext uri="{FF2B5EF4-FFF2-40B4-BE49-F238E27FC236}">
                <a16:creationId xmlns:a16="http://schemas.microsoft.com/office/drawing/2014/main" id="{E00EF42D-9D0C-E544-43E0-999400BABF6A}"/>
              </a:ext>
            </a:extLst>
          </p:cNvPr>
          <p:cNvSpPr/>
          <p:nvPr/>
        </p:nvSpPr>
        <p:spPr>
          <a:xfrm>
            <a:off x="10358755" y="2246401"/>
            <a:ext cx="560705" cy="543560"/>
          </a:xfrm>
          <a:custGeom>
            <a:avLst/>
            <a:gdLst/>
            <a:ahLst/>
            <a:cxnLst/>
            <a:rect l="l" t="t" r="r" b="b"/>
            <a:pathLst>
              <a:path w="560960" h="543687">
                <a:moveTo>
                  <a:pt x="358775" y="19050"/>
                </a:moveTo>
                <a:cubicBezTo>
                  <a:pt x="265303" y="15240"/>
                  <a:pt x="238506" y="0"/>
                  <a:pt x="162179" y="53340"/>
                </a:cubicBezTo>
                <a:cubicBezTo>
                  <a:pt x="47752" y="118237"/>
                  <a:pt x="0" y="221234"/>
                  <a:pt x="28702" y="337693"/>
                </a:cubicBezTo>
                <a:cubicBezTo>
                  <a:pt x="57277" y="455930"/>
                  <a:pt x="154560" y="536067"/>
                  <a:pt x="272923" y="539877"/>
                </a:cubicBezTo>
                <a:cubicBezTo>
                  <a:pt x="389255" y="543687"/>
                  <a:pt x="496062" y="465455"/>
                  <a:pt x="528575" y="351028"/>
                </a:cubicBezTo>
                <a:cubicBezTo>
                  <a:pt x="560960" y="234569"/>
                  <a:pt x="511302" y="116332"/>
                  <a:pt x="406400" y="49530"/>
                </a:cubicBezTo>
                <a:cubicBezTo>
                  <a:pt x="391161" y="40005"/>
                  <a:pt x="387350" y="26670"/>
                  <a:pt x="358775" y="19050"/>
                </a:cubicBezTo>
              </a:path>
            </a:pathLst>
          </a:custGeom>
          <a:solidFill>
            <a:srgbClr val="0E0404">
              <a:alpha val="100000"/>
            </a:srgbClr>
          </a:solidFill>
        </p:spPr>
        <p:txBody>
          <a:bodyPr/>
          <a:lstStyle/>
          <a:p>
            <a:endParaRPr lang="en-US"/>
          </a:p>
        </p:txBody>
      </p:sp>
      <p:sp>
        <p:nvSpPr>
          <p:cNvPr id="20" name="Freeform: Shape 19">
            <a:extLst>
              <a:ext uri="{FF2B5EF4-FFF2-40B4-BE49-F238E27FC236}">
                <a16:creationId xmlns:a16="http://schemas.microsoft.com/office/drawing/2014/main" id="{50DBA58A-8482-D95E-45C6-2FF1347BCA99}"/>
              </a:ext>
            </a:extLst>
          </p:cNvPr>
          <p:cNvSpPr/>
          <p:nvPr/>
        </p:nvSpPr>
        <p:spPr>
          <a:xfrm>
            <a:off x="10634345" y="34061"/>
            <a:ext cx="316230" cy="2275205"/>
          </a:xfrm>
          <a:custGeom>
            <a:avLst/>
            <a:gdLst/>
            <a:ahLst/>
            <a:cxnLst/>
            <a:rect l="l" t="t" r="r" b="b"/>
            <a:pathLst>
              <a:path w="316230" h="2275332">
                <a:moveTo>
                  <a:pt x="51435" y="120269"/>
                </a:moveTo>
                <a:cubicBezTo>
                  <a:pt x="89535" y="164212"/>
                  <a:pt x="100965" y="196597"/>
                  <a:pt x="131445" y="240539"/>
                </a:cubicBezTo>
                <a:cubicBezTo>
                  <a:pt x="215265" y="372237"/>
                  <a:pt x="236220" y="513462"/>
                  <a:pt x="236220" y="660527"/>
                </a:cubicBezTo>
                <a:cubicBezTo>
                  <a:pt x="234315" y="996443"/>
                  <a:pt x="194310" y="1328547"/>
                  <a:pt x="133350" y="1656843"/>
                </a:cubicBezTo>
                <a:cubicBezTo>
                  <a:pt x="100965" y="1834389"/>
                  <a:pt x="40005" y="2050162"/>
                  <a:pt x="7620" y="2227708"/>
                </a:cubicBezTo>
                <a:cubicBezTo>
                  <a:pt x="0" y="2271523"/>
                  <a:pt x="57150" y="2275332"/>
                  <a:pt x="91440" y="2231517"/>
                </a:cubicBezTo>
                <a:cubicBezTo>
                  <a:pt x="194310" y="1739012"/>
                  <a:pt x="316230" y="1248411"/>
                  <a:pt x="316230" y="738759"/>
                </a:cubicBezTo>
                <a:cubicBezTo>
                  <a:pt x="316230" y="463804"/>
                  <a:pt x="251460" y="196597"/>
                  <a:pt x="36195" y="0"/>
                </a:cubicBezTo>
                <a:cubicBezTo>
                  <a:pt x="38100" y="45848"/>
                  <a:pt x="47625" y="87757"/>
                  <a:pt x="51435" y="120269"/>
                </a:cubicBezTo>
              </a:path>
            </a:pathLst>
          </a:custGeom>
          <a:solidFill>
            <a:srgbClr val="000000">
              <a:alpha val="100000"/>
            </a:srgbClr>
          </a:solidFill>
        </p:spPr>
        <p:txBody>
          <a:bodyPr/>
          <a:lstStyle/>
          <a:p>
            <a:endParaRPr lang="en-US"/>
          </a:p>
        </p:txBody>
      </p:sp>
      <p:sp>
        <p:nvSpPr>
          <p:cNvPr id="21" name="Freeform: Shape 20">
            <a:extLst>
              <a:ext uri="{FF2B5EF4-FFF2-40B4-BE49-F238E27FC236}">
                <a16:creationId xmlns:a16="http://schemas.microsoft.com/office/drawing/2014/main" id="{0A805A16-EE9A-BB82-F5B8-E8BBF9CCB5E8}"/>
              </a:ext>
            </a:extLst>
          </p:cNvPr>
          <p:cNvSpPr/>
          <p:nvPr/>
        </p:nvSpPr>
        <p:spPr>
          <a:xfrm>
            <a:off x="8942705" y="1636166"/>
            <a:ext cx="412115" cy="884555"/>
          </a:xfrm>
          <a:custGeom>
            <a:avLst/>
            <a:gdLst/>
            <a:ahLst/>
            <a:cxnLst/>
            <a:rect l="l" t="t" r="r" b="b"/>
            <a:pathLst>
              <a:path w="412242" h="884682">
                <a:moveTo>
                  <a:pt x="412242" y="22860"/>
                </a:moveTo>
                <a:cubicBezTo>
                  <a:pt x="385573" y="0"/>
                  <a:pt x="374015" y="11430"/>
                  <a:pt x="356870" y="30480"/>
                </a:cubicBezTo>
                <a:cubicBezTo>
                  <a:pt x="353061" y="101092"/>
                  <a:pt x="343535" y="156337"/>
                  <a:pt x="332105" y="213487"/>
                </a:cubicBezTo>
                <a:cubicBezTo>
                  <a:pt x="299593" y="369824"/>
                  <a:pt x="248158" y="573913"/>
                  <a:pt x="202312" y="675005"/>
                </a:cubicBezTo>
                <a:cubicBezTo>
                  <a:pt x="187072" y="705485"/>
                  <a:pt x="141225" y="772160"/>
                  <a:pt x="122175" y="791210"/>
                </a:cubicBezTo>
                <a:cubicBezTo>
                  <a:pt x="93473" y="814070"/>
                  <a:pt x="53467" y="837057"/>
                  <a:pt x="13335" y="837057"/>
                </a:cubicBezTo>
                <a:cubicBezTo>
                  <a:pt x="0" y="852297"/>
                  <a:pt x="0" y="869442"/>
                  <a:pt x="13335" y="884682"/>
                </a:cubicBezTo>
                <a:cubicBezTo>
                  <a:pt x="127889" y="863727"/>
                  <a:pt x="198502" y="789305"/>
                  <a:pt x="244222" y="688340"/>
                </a:cubicBezTo>
                <a:cubicBezTo>
                  <a:pt x="324485" y="495681"/>
                  <a:pt x="372111" y="299339"/>
                  <a:pt x="400812" y="93345"/>
                </a:cubicBezTo>
                <a:cubicBezTo>
                  <a:pt x="402717" y="70485"/>
                  <a:pt x="406527" y="43815"/>
                  <a:pt x="412242" y="22860"/>
                </a:cubicBezTo>
              </a:path>
            </a:pathLst>
          </a:custGeom>
          <a:solidFill>
            <a:srgbClr val="595959">
              <a:alpha val="100000"/>
            </a:srgbClr>
          </a:solidFill>
        </p:spPr>
        <p:txBody>
          <a:bodyPr/>
          <a:lstStyle/>
          <a:p>
            <a:endParaRPr lang="en-US"/>
          </a:p>
        </p:txBody>
      </p:sp>
      <p:sp>
        <p:nvSpPr>
          <p:cNvPr id="22" name="Freeform: Shape 21">
            <a:extLst>
              <a:ext uri="{FF2B5EF4-FFF2-40B4-BE49-F238E27FC236}">
                <a16:creationId xmlns:a16="http://schemas.microsoft.com/office/drawing/2014/main" id="{D661D935-78DC-7FAD-C4E5-12E8E3F68BD6}"/>
              </a:ext>
            </a:extLst>
          </p:cNvPr>
          <p:cNvSpPr/>
          <p:nvPr/>
        </p:nvSpPr>
        <p:spPr>
          <a:xfrm>
            <a:off x="8467725" y="1566951"/>
            <a:ext cx="217805" cy="876300"/>
          </a:xfrm>
          <a:custGeom>
            <a:avLst/>
            <a:gdLst/>
            <a:ahLst/>
            <a:cxnLst/>
            <a:rect l="l" t="t" r="r" b="b"/>
            <a:pathLst>
              <a:path w="217932" h="876681">
                <a:moveTo>
                  <a:pt x="217932" y="26797"/>
                </a:moveTo>
                <a:cubicBezTo>
                  <a:pt x="200787" y="9525"/>
                  <a:pt x="185420" y="17145"/>
                  <a:pt x="170180" y="0"/>
                </a:cubicBezTo>
                <a:cubicBezTo>
                  <a:pt x="91694" y="278892"/>
                  <a:pt x="43942" y="427863"/>
                  <a:pt x="7620" y="651383"/>
                </a:cubicBezTo>
                <a:cubicBezTo>
                  <a:pt x="0" y="693420"/>
                  <a:pt x="0" y="735330"/>
                  <a:pt x="7620" y="777367"/>
                </a:cubicBezTo>
                <a:cubicBezTo>
                  <a:pt x="19050" y="815594"/>
                  <a:pt x="24764" y="828929"/>
                  <a:pt x="36322" y="867156"/>
                </a:cubicBezTo>
                <a:cubicBezTo>
                  <a:pt x="61213" y="876681"/>
                  <a:pt x="68833" y="848106"/>
                  <a:pt x="85979" y="827024"/>
                </a:cubicBezTo>
                <a:cubicBezTo>
                  <a:pt x="55372" y="796544"/>
                  <a:pt x="47752" y="773557"/>
                  <a:pt x="45847" y="714375"/>
                </a:cubicBezTo>
                <a:cubicBezTo>
                  <a:pt x="51562" y="678053"/>
                  <a:pt x="49657" y="649478"/>
                  <a:pt x="57277" y="628396"/>
                </a:cubicBezTo>
                <a:cubicBezTo>
                  <a:pt x="93599" y="439293"/>
                  <a:pt x="137668" y="278892"/>
                  <a:pt x="202692" y="70612"/>
                </a:cubicBezTo>
                <a:cubicBezTo>
                  <a:pt x="204597" y="61087"/>
                  <a:pt x="212217" y="36322"/>
                  <a:pt x="217932" y="26797"/>
                </a:cubicBezTo>
              </a:path>
            </a:pathLst>
          </a:custGeom>
          <a:solidFill>
            <a:srgbClr val="595959">
              <a:alpha val="100000"/>
            </a:srgbClr>
          </a:solidFill>
        </p:spPr>
        <p:txBody>
          <a:bodyPr/>
          <a:lstStyle/>
          <a:p>
            <a:endParaRPr lang="en-US"/>
          </a:p>
        </p:txBody>
      </p:sp>
      <p:sp>
        <p:nvSpPr>
          <p:cNvPr id="23" name="Freeform: Shape 22">
            <a:extLst>
              <a:ext uri="{FF2B5EF4-FFF2-40B4-BE49-F238E27FC236}">
                <a16:creationId xmlns:a16="http://schemas.microsoft.com/office/drawing/2014/main" id="{921DE4ED-BB98-DD1E-D591-7FAF17AC0FB3}"/>
              </a:ext>
            </a:extLst>
          </p:cNvPr>
          <p:cNvSpPr/>
          <p:nvPr/>
        </p:nvSpPr>
        <p:spPr>
          <a:xfrm>
            <a:off x="8634095" y="427126"/>
            <a:ext cx="982980" cy="1257300"/>
          </a:xfrm>
          <a:custGeom>
            <a:avLst/>
            <a:gdLst/>
            <a:ahLst/>
            <a:cxnLst/>
            <a:rect l="l" t="t" r="r" b="b"/>
            <a:pathLst>
              <a:path w="983361" h="1257681">
                <a:moveTo>
                  <a:pt x="979551" y="0"/>
                </a:moveTo>
                <a:cubicBezTo>
                  <a:pt x="895476" y="62992"/>
                  <a:pt x="740790" y="179451"/>
                  <a:pt x="647319" y="303403"/>
                </a:cubicBezTo>
                <a:cubicBezTo>
                  <a:pt x="647319" y="303403"/>
                  <a:pt x="582294" y="397002"/>
                  <a:pt x="551814" y="448564"/>
                </a:cubicBezTo>
                <a:cubicBezTo>
                  <a:pt x="526923" y="488569"/>
                  <a:pt x="525018" y="532511"/>
                  <a:pt x="475361" y="528701"/>
                </a:cubicBezTo>
                <a:cubicBezTo>
                  <a:pt x="429640" y="532511"/>
                  <a:pt x="378078" y="545846"/>
                  <a:pt x="349376" y="557276"/>
                </a:cubicBezTo>
                <a:cubicBezTo>
                  <a:pt x="265430" y="591693"/>
                  <a:pt x="200406" y="687070"/>
                  <a:pt x="164211" y="753872"/>
                </a:cubicBezTo>
                <a:cubicBezTo>
                  <a:pt x="97282" y="877951"/>
                  <a:pt x="45720" y="1000125"/>
                  <a:pt x="1905" y="1133602"/>
                </a:cubicBezTo>
                <a:cubicBezTo>
                  <a:pt x="0" y="1169924"/>
                  <a:pt x="15240" y="1187069"/>
                  <a:pt x="51561" y="1183259"/>
                </a:cubicBezTo>
                <a:cubicBezTo>
                  <a:pt x="116459" y="1057275"/>
                  <a:pt x="133603" y="956183"/>
                  <a:pt x="215773" y="811149"/>
                </a:cubicBezTo>
                <a:cubicBezTo>
                  <a:pt x="261493" y="738632"/>
                  <a:pt x="288290" y="629793"/>
                  <a:pt x="429640" y="601218"/>
                </a:cubicBezTo>
                <a:cubicBezTo>
                  <a:pt x="463931" y="593598"/>
                  <a:pt x="544194" y="614553"/>
                  <a:pt x="570864" y="635508"/>
                </a:cubicBezTo>
                <a:cubicBezTo>
                  <a:pt x="689229" y="721360"/>
                  <a:pt x="733171" y="883665"/>
                  <a:pt x="698881" y="1028700"/>
                </a:cubicBezTo>
                <a:cubicBezTo>
                  <a:pt x="683513" y="1099312"/>
                  <a:pt x="668274" y="1166114"/>
                  <a:pt x="660654" y="1244346"/>
                </a:cubicBezTo>
                <a:cubicBezTo>
                  <a:pt x="666369" y="1257681"/>
                  <a:pt x="702690" y="1250061"/>
                  <a:pt x="721740" y="1240536"/>
                </a:cubicBezTo>
                <a:cubicBezTo>
                  <a:pt x="742696" y="1156589"/>
                  <a:pt x="773302" y="1062990"/>
                  <a:pt x="780923" y="975233"/>
                </a:cubicBezTo>
                <a:cubicBezTo>
                  <a:pt x="794258" y="811149"/>
                  <a:pt x="733171" y="677545"/>
                  <a:pt x="610997" y="570611"/>
                </a:cubicBezTo>
                <a:cubicBezTo>
                  <a:pt x="584200" y="547751"/>
                  <a:pt x="605282" y="517271"/>
                  <a:pt x="622426" y="490474"/>
                </a:cubicBezTo>
                <a:cubicBezTo>
                  <a:pt x="622426" y="490474"/>
                  <a:pt x="653034" y="431292"/>
                  <a:pt x="681609" y="383667"/>
                </a:cubicBezTo>
                <a:cubicBezTo>
                  <a:pt x="716025" y="322580"/>
                  <a:pt x="790448" y="251968"/>
                  <a:pt x="880236" y="177546"/>
                </a:cubicBezTo>
                <a:cubicBezTo>
                  <a:pt x="903097" y="154559"/>
                  <a:pt x="935609" y="127889"/>
                  <a:pt x="958469" y="106934"/>
                </a:cubicBezTo>
                <a:cubicBezTo>
                  <a:pt x="966088" y="101092"/>
                  <a:pt x="983361" y="32384"/>
                  <a:pt x="979551" y="0"/>
                </a:cubicBezTo>
              </a:path>
            </a:pathLst>
          </a:custGeom>
          <a:solidFill>
            <a:srgbClr val="000000">
              <a:alpha val="100000"/>
            </a:srgbClr>
          </a:solidFill>
        </p:spPr>
        <p:txBody>
          <a:bodyPr/>
          <a:lstStyle/>
          <a:p>
            <a:endParaRPr lang="en-US"/>
          </a:p>
        </p:txBody>
      </p:sp>
    </p:spTree>
    <p:extLst>
      <p:ext uri="{BB962C8B-B14F-4D97-AF65-F5344CB8AC3E}">
        <p14:creationId xmlns:p14="http://schemas.microsoft.com/office/powerpoint/2010/main" val="3507447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6B4CD-A89A-FD84-26C4-CFFEE053B54A}"/>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5C4F2DD9-7123-A58F-B517-6F497423BDD1}"/>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EBB50AFD-CE25-2BD0-8ADE-0EAD16E92A99}"/>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6C4294AB-196E-37EA-F0EB-C1B2535B6739}"/>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FC7384AC-00B6-1FB6-6260-161F4E5C41B6}"/>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505769A0-2883-F17A-8762-63BD076744D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CA1F8C0-7FC0-A017-E9F4-FAE7FC1BC83F}"/>
              </a:ext>
            </a:extLst>
          </p:cNvPr>
          <p:cNvSpPr txBox="1"/>
          <p:nvPr/>
        </p:nvSpPr>
        <p:spPr>
          <a:xfrm>
            <a:off x="191135" y="219481"/>
            <a:ext cx="11915140" cy="5816977"/>
          </a:xfrm>
          <a:prstGeom prst="rect">
            <a:avLst/>
          </a:prstGeom>
          <a:noFill/>
        </p:spPr>
        <p:txBody>
          <a:bodyPr wrap="square">
            <a:spAutoFit/>
          </a:bodyPr>
          <a:lstStyle/>
          <a:p>
            <a:pPr>
              <a:buNone/>
            </a:pPr>
            <a:r>
              <a:rPr lang="en-US" sz="3600" b="1" dirty="0">
                <a:solidFill>
                  <a:srgbClr val="FFFF00"/>
                </a:solidFill>
              </a:rPr>
              <a:t>Project Scope:</a:t>
            </a:r>
          </a:p>
          <a:p>
            <a:pPr>
              <a:buNone/>
            </a:pPr>
            <a:endParaRPr lang="en-US" sz="2400" b="1" dirty="0">
              <a:solidFill>
                <a:schemeClr val="bg1"/>
              </a:solidFill>
            </a:endParaRPr>
          </a:p>
          <a:p>
            <a:r>
              <a:rPr lang="en-US" sz="2400" b="1" dirty="0"/>
              <a:t>In-Scope:</a:t>
            </a:r>
          </a:p>
          <a:p>
            <a:pPr marL="457200" indent="-457200">
              <a:buFont typeface="+mj-lt"/>
              <a:buAutoNum type="arabicPeriod"/>
            </a:pPr>
            <a:r>
              <a:rPr lang="en-US" sz="2400" dirty="0"/>
              <a:t>Wearable respiratory monitoring device</a:t>
            </a:r>
          </a:p>
          <a:p>
            <a:pPr marL="457200" indent="-457200">
              <a:buFont typeface="+mj-lt"/>
              <a:buAutoNum type="arabicPeriod"/>
            </a:pPr>
            <a:r>
              <a:rPr lang="en-US" sz="2400" dirty="0"/>
              <a:t>Patient mobile application</a:t>
            </a:r>
          </a:p>
          <a:p>
            <a:pPr marL="457200" indent="-457200">
              <a:buFont typeface="+mj-lt"/>
              <a:buAutoNum type="arabicPeriod"/>
            </a:pPr>
            <a:r>
              <a:rPr lang="en-US" sz="2400" dirty="0"/>
              <a:t>Physician web-based dashboard</a:t>
            </a:r>
          </a:p>
          <a:p>
            <a:pPr marL="457200" indent="-457200">
              <a:buFont typeface="+mj-lt"/>
              <a:buAutoNum type="arabicPeriod"/>
            </a:pPr>
            <a:r>
              <a:rPr lang="en-US" sz="2400" dirty="0"/>
              <a:t>Data collection from acoustic, mechanical, thermal, and pulse oximeter sensors</a:t>
            </a:r>
          </a:p>
          <a:p>
            <a:pPr marL="457200" indent="-457200">
              <a:buFont typeface="+mj-lt"/>
              <a:buAutoNum type="arabicPeriod"/>
            </a:pPr>
            <a:r>
              <a:rPr lang="en-US" sz="2400" dirty="0"/>
              <a:t>Visualization of sleep and breathing graphs</a:t>
            </a:r>
          </a:p>
          <a:p>
            <a:pPr marL="457200" indent="-457200">
              <a:buFont typeface="+mj-lt"/>
              <a:buAutoNum type="arabicPeriod"/>
            </a:pPr>
            <a:r>
              <a:rPr lang="en-US" sz="2400" dirty="0"/>
              <a:t>Emergency alert system in critical conditions</a:t>
            </a:r>
          </a:p>
          <a:p>
            <a:pPr marL="457200" indent="-457200">
              <a:buFont typeface="+mj-lt"/>
              <a:buAutoNum type="arabicPeriod"/>
            </a:pPr>
            <a:r>
              <a:rPr lang="en-US" sz="2400" dirty="0"/>
              <a:t>AI-based analysis and apnea detection</a:t>
            </a:r>
          </a:p>
          <a:p>
            <a:pPr marL="457200" indent="-457200">
              <a:buFont typeface="+mj-lt"/>
              <a:buAutoNum type="arabicPeriod"/>
            </a:pPr>
            <a:endParaRPr lang="en-US" sz="2400" dirty="0"/>
          </a:p>
          <a:p>
            <a:r>
              <a:rPr lang="en-US" sz="2400" b="1" dirty="0"/>
              <a:t>Out of Scope:</a:t>
            </a:r>
          </a:p>
          <a:p>
            <a:pPr marL="457200" indent="-457200">
              <a:buFont typeface="+mj-lt"/>
              <a:buAutoNum type="arabicPeriod"/>
            </a:pPr>
            <a:r>
              <a:rPr lang="en-US" sz="2400" dirty="0"/>
              <a:t>Mass production of hardware</a:t>
            </a:r>
          </a:p>
          <a:p>
            <a:pPr marL="457200" indent="-457200">
              <a:buFont typeface="+mj-lt"/>
              <a:buAutoNum type="arabicPeriod"/>
            </a:pPr>
            <a:r>
              <a:rPr lang="en-US" sz="2400" dirty="0"/>
              <a:t>Medical treatment or drug prescription</a:t>
            </a:r>
          </a:p>
          <a:p>
            <a:pPr marL="457200" indent="-457200">
              <a:buFont typeface="+mj-lt"/>
              <a:buAutoNum type="arabicPeriod"/>
            </a:pPr>
            <a:r>
              <a:rPr lang="en-US" sz="2400" dirty="0"/>
              <a:t>Clinical decision-making beyond diagnostic support</a:t>
            </a:r>
          </a:p>
        </p:txBody>
      </p:sp>
    </p:spTree>
    <p:extLst>
      <p:ext uri="{BB962C8B-B14F-4D97-AF65-F5344CB8AC3E}">
        <p14:creationId xmlns:p14="http://schemas.microsoft.com/office/powerpoint/2010/main" val="1299372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0553-E472-E572-B8C1-16A396C8CC34}"/>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3C891610-26D2-9172-365C-CE6EFC9E7937}"/>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CD43727A-C62A-2425-DEFA-94241EB56071}"/>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BC8AE675-B753-BC3D-0D36-2077125ABC70}"/>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644C5706-8704-CBD5-CAC8-20C898C815D5}"/>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D2460661-F6AD-71EA-7A49-E5B7327380D9}"/>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9C537DC-B474-3B03-5FCB-24FE78229246}"/>
              </a:ext>
            </a:extLst>
          </p:cNvPr>
          <p:cNvSpPr txBox="1"/>
          <p:nvPr/>
        </p:nvSpPr>
        <p:spPr>
          <a:xfrm>
            <a:off x="304800" y="134035"/>
            <a:ext cx="6096000" cy="646331"/>
          </a:xfrm>
          <a:prstGeom prst="rect">
            <a:avLst/>
          </a:prstGeom>
          <a:noFill/>
        </p:spPr>
        <p:txBody>
          <a:bodyPr wrap="square">
            <a:spAutoFit/>
          </a:bodyPr>
          <a:lstStyle/>
          <a:p>
            <a:r>
              <a:rPr lang="en-US" sz="3600" dirty="0">
                <a:solidFill>
                  <a:srgbClr val="FFFF00"/>
                </a:solidFill>
              </a:rPr>
              <a:t>System Requirements:</a:t>
            </a:r>
          </a:p>
        </p:txBody>
      </p:sp>
      <p:sp>
        <p:nvSpPr>
          <p:cNvPr id="5" name="TextBox 4">
            <a:extLst>
              <a:ext uri="{FF2B5EF4-FFF2-40B4-BE49-F238E27FC236}">
                <a16:creationId xmlns:a16="http://schemas.microsoft.com/office/drawing/2014/main" id="{4FD3EA3B-D3B6-1FFC-66DE-E9891EFC789E}"/>
              </a:ext>
            </a:extLst>
          </p:cNvPr>
          <p:cNvSpPr txBox="1"/>
          <p:nvPr/>
        </p:nvSpPr>
        <p:spPr>
          <a:xfrm>
            <a:off x="304800" y="941606"/>
            <a:ext cx="8658225" cy="5940088"/>
          </a:xfrm>
          <a:prstGeom prst="rect">
            <a:avLst/>
          </a:prstGeom>
          <a:noFill/>
        </p:spPr>
        <p:txBody>
          <a:bodyPr wrap="square">
            <a:spAutoFit/>
          </a:bodyPr>
          <a:lstStyle/>
          <a:p>
            <a:pPr>
              <a:buNone/>
            </a:pPr>
            <a:r>
              <a:rPr lang="en-US" sz="2800" b="1" dirty="0"/>
              <a:t>Functional Requirements</a:t>
            </a:r>
          </a:p>
          <a:p>
            <a:pPr>
              <a:buNone/>
            </a:pPr>
            <a:endParaRPr lang="en-US" sz="2200" b="1" dirty="0"/>
          </a:p>
          <a:p>
            <a:pPr>
              <a:buFont typeface="Arial" panose="020B0604020202020204" pitchFamily="34" charset="0"/>
              <a:buChar char="•"/>
            </a:pPr>
            <a:r>
              <a:rPr lang="en-US" sz="2200" dirty="0"/>
              <a:t>User registration and authentication</a:t>
            </a:r>
          </a:p>
          <a:p>
            <a:pPr>
              <a:buFont typeface="Arial" panose="020B0604020202020204" pitchFamily="34" charset="0"/>
              <a:buChar char="•"/>
            </a:pPr>
            <a:endParaRPr lang="en-US" sz="2200" dirty="0"/>
          </a:p>
          <a:p>
            <a:pPr>
              <a:buFont typeface="Arial" panose="020B0604020202020204" pitchFamily="34" charset="0"/>
              <a:buChar char="•"/>
            </a:pPr>
            <a:r>
              <a:rPr lang="en-US" sz="2200" dirty="0"/>
              <a:t>Collection of respiratory and physiological data during sleep</a:t>
            </a:r>
          </a:p>
          <a:p>
            <a:pPr>
              <a:buFont typeface="Arial" panose="020B0604020202020204" pitchFamily="34" charset="0"/>
              <a:buChar char="•"/>
            </a:pPr>
            <a:endParaRPr lang="en-US" sz="2200" dirty="0"/>
          </a:p>
          <a:p>
            <a:pPr>
              <a:buFont typeface="Arial" panose="020B0604020202020204" pitchFamily="34" charset="0"/>
              <a:buChar char="•"/>
            </a:pPr>
            <a:r>
              <a:rPr lang="en-US" sz="2200" dirty="0"/>
              <a:t>Analysis of collected data to detect obstructive sleep apnea</a:t>
            </a:r>
          </a:p>
          <a:p>
            <a:pPr>
              <a:buFont typeface="Arial" panose="020B0604020202020204" pitchFamily="34" charset="0"/>
              <a:buChar char="•"/>
            </a:pPr>
            <a:endParaRPr lang="en-US" sz="2200" dirty="0"/>
          </a:p>
          <a:p>
            <a:pPr>
              <a:buFont typeface="Arial" panose="020B0604020202020204" pitchFamily="34" charset="0"/>
              <a:buChar char="•"/>
            </a:pPr>
            <a:r>
              <a:rPr lang="en-US" sz="2200" dirty="0"/>
              <a:t>Visualization of apnea severity and sleep patterns using charts</a:t>
            </a:r>
          </a:p>
          <a:p>
            <a:pPr>
              <a:buFont typeface="Arial" panose="020B0604020202020204" pitchFamily="34" charset="0"/>
              <a:buChar char="•"/>
            </a:pPr>
            <a:endParaRPr lang="en-US" sz="2200" dirty="0"/>
          </a:p>
          <a:p>
            <a:pPr>
              <a:buFont typeface="Arial" panose="020B0604020202020204" pitchFamily="34" charset="0"/>
              <a:buChar char="•"/>
            </a:pPr>
            <a:r>
              <a:rPr lang="en-US" sz="2200" dirty="0"/>
              <a:t>Real-time alerts in emergency situations</a:t>
            </a:r>
          </a:p>
          <a:p>
            <a:pPr>
              <a:buFont typeface="Arial" panose="020B0604020202020204" pitchFamily="34" charset="0"/>
              <a:buChar char="•"/>
            </a:pPr>
            <a:endParaRPr lang="en-US" sz="2200" dirty="0"/>
          </a:p>
          <a:p>
            <a:pPr>
              <a:buFont typeface="Arial" panose="020B0604020202020204" pitchFamily="34" charset="0"/>
              <a:buChar char="•"/>
            </a:pPr>
            <a:r>
              <a:rPr lang="en-US" sz="2200" dirty="0"/>
              <a:t>Secure data transmission to the physician’s system</a:t>
            </a:r>
          </a:p>
          <a:p>
            <a:pPr>
              <a:buFont typeface="Arial" panose="020B0604020202020204" pitchFamily="34" charset="0"/>
              <a:buChar char="•"/>
            </a:pPr>
            <a:endParaRPr lang="en-US" sz="2200" dirty="0"/>
          </a:p>
          <a:p>
            <a:pPr>
              <a:buFont typeface="Arial" panose="020B0604020202020204" pitchFamily="34" charset="0"/>
              <a:buChar char="•"/>
            </a:pPr>
            <a:r>
              <a:rPr lang="en-US" sz="2200" dirty="0"/>
              <a:t>Storage and management of patient medical history</a:t>
            </a:r>
          </a:p>
          <a:p>
            <a:pPr>
              <a:buFont typeface="Arial" panose="020B0604020202020204" pitchFamily="34" charset="0"/>
              <a:buChar char="•"/>
            </a:pPr>
            <a:endParaRPr lang="en-US" sz="2200" dirty="0"/>
          </a:p>
          <a:p>
            <a:pPr>
              <a:buFont typeface="Arial" panose="020B0604020202020204" pitchFamily="34" charset="0"/>
              <a:buChar char="•"/>
            </a:pPr>
            <a:r>
              <a:rPr lang="en-US" sz="2200" dirty="0"/>
              <a:t>Generation of diagnostic reports for physicians</a:t>
            </a:r>
          </a:p>
        </p:txBody>
      </p:sp>
    </p:spTree>
    <p:extLst>
      <p:ext uri="{BB962C8B-B14F-4D97-AF65-F5344CB8AC3E}">
        <p14:creationId xmlns:p14="http://schemas.microsoft.com/office/powerpoint/2010/main" val="3483522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F3D4D-CED7-C77B-03C0-B7085ED86687}"/>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729D397E-D26D-DAA6-3995-37EC5C0989F3}"/>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CB05D357-7466-6F99-F993-9F8DEFE60792}"/>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D0124358-5845-0822-D373-29305B25BDE7}"/>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F92389F6-9E18-8CE3-1794-27F9605F20C9}"/>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6C6C042C-7984-264A-934A-414FC496444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CD991E-1D1E-8E24-46FD-DF7D601EF6E9}"/>
              </a:ext>
            </a:extLst>
          </p:cNvPr>
          <p:cNvSpPr txBox="1"/>
          <p:nvPr/>
        </p:nvSpPr>
        <p:spPr>
          <a:xfrm>
            <a:off x="304800" y="134035"/>
            <a:ext cx="60960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00"/>
                </a:solidFill>
                <a:effectLst/>
                <a:uLnTx/>
                <a:uFillTx/>
                <a:latin typeface="Calibri" panose="020F0502020204030204"/>
                <a:ea typeface="+mn-ea"/>
                <a:cs typeface="+mn-cs"/>
              </a:rPr>
              <a:t>System Requirements:</a:t>
            </a:r>
          </a:p>
        </p:txBody>
      </p:sp>
      <p:sp>
        <p:nvSpPr>
          <p:cNvPr id="5" name="TextBox 4">
            <a:extLst>
              <a:ext uri="{FF2B5EF4-FFF2-40B4-BE49-F238E27FC236}">
                <a16:creationId xmlns:a16="http://schemas.microsoft.com/office/drawing/2014/main" id="{8AE681C8-F04E-3AC4-29A7-411825B462E7}"/>
              </a:ext>
            </a:extLst>
          </p:cNvPr>
          <p:cNvSpPr txBox="1"/>
          <p:nvPr/>
        </p:nvSpPr>
        <p:spPr>
          <a:xfrm>
            <a:off x="304800" y="941606"/>
            <a:ext cx="8658225" cy="1815882"/>
          </a:xfrm>
          <a:prstGeom prst="rect">
            <a:avLst/>
          </a:prstGeom>
          <a:noFill/>
        </p:spPr>
        <p:txBody>
          <a:bodyPr wrap="square">
            <a:spAutoFit/>
          </a:bodyPr>
          <a:lstStyle/>
          <a:p>
            <a:pPr lvl="0"/>
            <a:r>
              <a:rPr lang="en-US" sz="2800" b="1" dirty="0">
                <a:solidFill>
                  <a:srgbClr val="FF0000"/>
                </a:solidFill>
              </a:rPr>
              <a:t>Non</a:t>
            </a:r>
            <a:r>
              <a:rPr lang="en-US" sz="2800" b="1" dirty="0"/>
              <a:t>-Functional Requirements</a:t>
            </a:r>
          </a:p>
          <a:p>
            <a:pPr lvl="0"/>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3">
            <a:extLst>
              <a:ext uri="{FF2B5EF4-FFF2-40B4-BE49-F238E27FC236}">
                <a16:creationId xmlns:a16="http://schemas.microsoft.com/office/drawing/2014/main" id="{12413BD1-4148-18A8-40B4-78E3033E1108}"/>
              </a:ext>
            </a:extLst>
          </p:cNvPr>
          <p:cNvSpPr>
            <a:spLocks noChangeArrowheads="1"/>
          </p:cNvSpPr>
          <p:nvPr/>
        </p:nvSpPr>
        <p:spPr bwMode="auto">
          <a:xfrm>
            <a:off x="433386" y="1582699"/>
            <a:ext cx="10229851"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High diagnostic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Acceptable processing speed and system responsiveness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User-friendly and intuitive user interface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High system reliability and availability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Data privacy and security compliance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Scalability for future expansion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panose="020B0604020202020204" pitchFamily="34" charset="0"/>
              </a:rPr>
              <a:t>Accessibility for general users</a:t>
            </a:r>
          </a:p>
        </p:txBody>
      </p:sp>
    </p:spTree>
    <p:extLst>
      <p:ext uri="{BB962C8B-B14F-4D97-AF65-F5344CB8AC3E}">
        <p14:creationId xmlns:p14="http://schemas.microsoft.com/office/powerpoint/2010/main" val="2535702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1818-5421-FDBF-204A-B488282AE7FA}"/>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6AE18A0D-6A23-AB3B-C4BE-4C65CAC8EE43}"/>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B35347C8-E64E-1187-A9FA-B3D086C5C25E}"/>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467ADC6C-8DDA-D7AD-D508-1820A78F94DE}"/>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17E21373-582D-014B-DB04-2FC7D2D7F414}"/>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90F1091B-4C52-C5D0-EAB2-225294C76984}"/>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Image 291">
            <a:extLst>
              <a:ext uri="{FF2B5EF4-FFF2-40B4-BE49-F238E27FC236}">
                <a16:creationId xmlns:a16="http://schemas.microsoft.com/office/drawing/2014/main" id="{BFA93562-1893-F081-837E-DDE1ED3B574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3569652" y="207010"/>
            <a:ext cx="546100" cy="537210"/>
          </a:xfrm>
          <a:prstGeom prst="rect">
            <a:avLst/>
          </a:prstGeom>
        </p:spPr>
      </p:pic>
      <p:sp>
        <p:nvSpPr>
          <p:cNvPr id="3" name="TextBox294">
            <a:extLst>
              <a:ext uri="{FF2B5EF4-FFF2-40B4-BE49-F238E27FC236}">
                <a16:creationId xmlns:a16="http://schemas.microsoft.com/office/drawing/2014/main" id="{32C28B17-F8DC-0E20-0264-6769FC939292}"/>
              </a:ext>
            </a:extLst>
          </p:cNvPr>
          <p:cNvSpPr txBox="1">
            <a:spLocks noChangeAspect="1" noChangeArrowheads="1"/>
          </p:cNvSpPr>
          <p:nvPr/>
        </p:nvSpPr>
        <p:spPr bwMode="auto">
          <a:xfrm>
            <a:off x="4158297" y="-27940"/>
            <a:ext cx="2398395" cy="836295"/>
          </a:xfrm>
          <a:prstGeom prst="rect">
            <a:avLst/>
          </a:prstGeom>
          <a:noFill/>
        </p:spPr>
        <p:txBody>
          <a:bodyPr rot="0" vert="horz" wrap="square" lIns="0" tIns="0" rIns="0" bIns="0" anchor="t" anchorCtr="0">
            <a:spAutoFit/>
          </a:bodyPr>
          <a:lstStyle/>
          <a:p>
            <a:pPr marL="0" marR="0" eaLnBrk="0" latinLnBrk="1">
              <a:lnSpc>
                <a:spcPct val="99000"/>
              </a:lnSpc>
              <a:spcBef>
                <a:spcPts val="20"/>
              </a:spcBef>
              <a:buNone/>
            </a:pPr>
            <a:r>
              <a:rPr lang="en-US" sz="5400" spc="-15">
                <a:solidFill>
                  <a:srgbClr val="FFFFFF"/>
                </a:solidFill>
                <a:effectLst/>
                <a:latin typeface="Calibri" panose="020F0502020204030204" pitchFamily="34" charset="0"/>
                <a:ea typeface="Calibri" panose="020F0502020204030204" pitchFamily="34" charset="0"/>
              </a:rPr>
              <a:t>s</a:t>
            </a:r>
            <a:r>
              <a:rPr lang="en-US" sz="5400" spc="-10">
                <a:solidFill>
                  <a:srgbClr val="FFFFFF"/>
                </a:solidFill>
                <a:effectLst/>
                <a:latin typeface="Calibri" panose="020F0502020204030204" pitchFamily="34" charset="0"/>
                <a:ea typeface="Calibri" panose="020F0502020204030204" pitchFamily="34" charset="0"/>
              </a:rPr>
              <a:t>t</a:t>
            </a:r>
            <a:r>
              <a:rPr lang="en-US" sz="5400" spc="-20">
                <a:solidFill>
                  <a:srgbClr val="FFFFFF"/>
                </a:solidFill>
                <a:effectLst/>
                <a:latin typeface="Calibri" panose="020F0502020204030204" pitchFamily="34" charset="0"/>
                <a:ea typeface="Calibri" panose="020F0502020204030204" pitchFamily="34" charset="0"/>
              </a:rPr>
              <a:t>a</a:t>
            </a:r>
            <a:r>
              <a:rPr lang="en-US" sz="5400" spc="-10">
                <a:solidFill>
                  <a:srgbClr val="FFFFFF"/>
                </a:solidFill>
                <a:effectLst/>
                <a:latin typeface="Calibri" panose="020F0502020204030204" pitchFamily="34" charset="0"/>
                <a:ea typeface="Calibri" panose="020F0502020204030204" pitchFamily="34" charset="0"/>
              </a:rPr>
              <a:t>tistics</a:t>
            </a:r>
            <a:endParaRPr lang="en-US" sz="1050">
              <a:solidFill>
                <a:srgbClr val="000000"/>
              </a:solidFill>
              <a:effectLst/>
              <a:latin typeface="Arial" panose="020B0604020202020204" pitchFamily="34" charset="0"/>
              <a:ea typeface="Arial" panose="020B0604020202020204" pitchFamily="34" charset="0"/>
            </a:endParaRPr>
          </a:p>
        </p:txBody>
      </p:sp>
      <p:sp>
        <p:nvSpPr>
          <p:cNvPr id="4" name="Image 297">
            <a:extLst>
              <a:ext uri="{FF2B5EF4-FFF2-40B4-BE49-F238E27FC236}">
                <a16:creationId xmlns:a16="http://schemas.microsoft.com/office/drawing/2014/main" id="{0B9D99CB-98E9-0B76-17D8-2701AD7DB0EE}"/>
              </a:ext>
            </a:extLst>
          </p:cNvPr>
          <p:cNvSpPr>
            <a:spLocks noChangeAspect="1"/>
          </p:cNvSpPr>
          <p:nvPr/>
        </p:nvSpPr>
        <p:spPr>
          <a:xfrm>
            <a:off x="6735127" y="207010"/>
            <a:ext cx="473075" cy="471805"/>
          </a:xfrm>
          <a:custGeom>
            <a:avLst/>
            <a:gdLst/>
            <a:ahLst/>
            <a:cxnLst/>
            <a:rect l="l" t="t" r="r" b="b"/>
            <a:pathLst>
              <a:path w="472439" h="470916">
                <a:moveTo>
                  <a:pt x="58547" y="290195"/>
                </a:moveTo>
                <a:lnTo>
                  <a:pt x="126874" y="290195"/>
                </a:lnTo>
                <a:lnTo>
                  <a:pt x="126874" y="415798"/>
                </a:lnTo>
                <a:lnTo>
                  <a:pt x="58547" y="415798"/>
                </a:lnTo>
                <a:lnTo>
                  <a:pt x="58547" y="290195"/>
                </a:lnTo>
                <a:close/>
                <a:moveTo>
                  <a:pt x="163576" y="237871"/>
                </a:moveTo>
                <a:lnTo>
                  <a:pt x="231775" y="237871"/>
                </a:lnTo>
                <a:lnTo>
                  <a:pt x="231775" y="415798"/>
                </a:lnTo>
                <a:lnTo>
                  <a:pt x="163576" y="415798"/>
                </a:lnTo>
                <a:lnTo>
                  <a:pt x="163576" y="237871"/>
                </a:lnTo>
                <a:close/>
                <a:moveTo>
                  <a:pt x="268605" y="185547"/>
                </a:moveTo>
                <a:lnTo>
                  <a:pt x="336804" y="185547"/>
                </a:lnTo>
                <a:lnTo>
                  <a:pt x="336804" y="415798"/>
                </a:lnTo>
                <a:lnTo>
                  <a:pt x="268605" y="415798"/>
                </a:lnTo>
                <a:lnTo>
                  <a:pt x="268605" y="185547"/>
                </a:lnTo>
                <a:close/>
                <a:moveTo>
                  <a:pt x="373634" y="133223"/>
                </a:moveTo>
                <a:lnTo>
                  <a:pt x="441834" y="133223"/>
                </a:lnTo>
                <a:lnTo>
                  <a:pt x="441834" y="415798"/>
                </a:lnTo>
                <a:lnTo>
                  <a:pt x="373634" y="415798"/>
                </a:lnTo>
                <a:lnTo>
                  <a:pt x="373634" y="133223"/>
                </a:lnTo>
                <a:close/>
                <a:moveTo>
                  <a:pt x="338582" y="24130"/>
                </a:moveTo>
                <a:lnTo>
                  <a:pt x="419989" y="27432"/>
                </a:lnTo>
                <a:lnTo>
                  <a:pt x="382143" y="99440"/>
                </a:lnTo>
                <a:lnTo>
                  <a:pt x="371221" y="80645"/>
                </a:lnTo>
                <a:lnTo>
                  <a:pt x="78994" y="248793"/>
                </a:lnTo>
                <a:lnTo>
                  <a:pt x="57150" y="211201"/>
                </a:lnTo>
                <a:lnTo>
                  <a:pt x="349504" y="42925"/>
                </a:lnTo>
                <a:lnTo>
                  <a:pt x="338582" y="24130"/>
                </a:lnTo>
                <a:close/>
                <a:moveTo>
                  <a:pt x="0" y="-8510"/>
                </a:moveTo>
                <a:lnTo>
                  <a:pt x="26289" y="-8510"/>
                </a:lnTo>
                <a:lnTo>
                  <a:pt x="26289" y="436245"/>
                </a:lnTo>
                <a:lnTo>
                  <a:pt x="472439" y="436245"/>
                </a:lnTo>
                <a:lnTo>
                  <a:pt x="472439" y="462407"/>
                </a:lnTo>
                <a:lnTo>
                  <a:pt x="26289" y="462407"/>
                </a:lnTo>
                <a:lnTo>
                  <a:pt x="26289" y="462407"/>
                </a:lnTo>
                <a:lnTo>
                  <a:pt x="0" y="462407"/>
                </a:lnTo>
                <a:lnTo>
                  <a:pt x="0" y="462407"/>
                </a:lnTo>
                <a:lnTo>
                  <a:pt x="0" y="436245"/>
                </a:lnTo>
                <a:lnTo>
                  <a:pt x="0" y="-8510"/>
                </a:lnTo>
                <a:close/>
              </a:path>
            </a:pathLst>
          </a:custGeom>
          <a:solidFill>
            <a:srgbClr val="57C3A7">
              <a:alpha val="100000"/>
            </a:srgbClr>
          </a:solidFill>
        </p:spPr>
        <p:txBody>
          <a:bodyPr/>
          <a:lstStyle/>
          <a:p>
            <a:endParaRPr lang="en-US"/>
          </a:p>
        </p:txBody>
      </p:sp>
      <p:pic>
        <p:nvPicPr>
          <p:cNvPr id="5" name="Image 299">
            <a:extLst>
              <a:ext uri="{FF2B5EF4-FFF2-40B4-BE49-F238E27FC236}">
                <a16:creationId xmlns:a16="http://schemas.microsoft.com/office/drawing/2014/main" id="{287EB49A-D8C3-D365-A33E-C65607232C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79387" y="138430"/>
            <a:ext cx="3331210" cy="1407795"/>
          </a:xfrm>
          <a:prstGeom prst="rect">
            <a:avLst/>
          </a:prstGeom>
        </p:spPr>
      </p:pic>
      <p:pic>
        <p:nvPicPr>
          <p:cNvPr id="6" name="Image 303">
            <a:extLst>
              <a:ext uri="{FF2B5EF4-FFF2-40B4-BE49-F238E27FC236}">
                <a16:creationId xmlns:a16="http://schemas.microsoft.com/office/drawing/2014/main" id="{AE251038-93B3-9DD3-1F1A-FB06D4D406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7312977" y="138430"/>
            <a:ext cx="4716780" cy="1156335"/>
          </a:xfrm>
          <a:prstGeom prst="rect">
            <a:avLst/>
          </a:prstGeom>
        </p:spPr>
      </p:pic>
      <p:pic>
        <p:nvPicPr>
          <p:cNvPr id="7" name="Image 305">
            <a:extLst>
              <a:ext uri="{FF2B5EF4-FFF2-40B4-BE49-F238E27FC236}">
                <a16:creationId xmlns:a16="http://schemas.microsoft.com/office/drawing/2014/main" id="{D266082E-02BC-DBFF-B512-130BEE23F7F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7312977" y="1376045"/>
            <a:ext cx="4716780" cy="2427605"/>
          </a:xfrm>
          <a:prstGeom prst="rect">
            <a:avLst/>
          </a:prstGeom>
        </p:spPr>
      </p:pic>
      <p:pic>
        <p:nvPicPr>
          <p:cNvPr id="8" name="Image 309">
            <a:extLst>
              <a:ext uri="{FF2B5EF4-FFF2-40B4-BE49-F238E27FC236}">
                <a16:creationId xmlns:a16="http://schemas.microsoft.com/office/drawing/2014/main" id="{DC3E199C-8944-B6A5-3FEA-3739E123406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3617277" y="842645"/>
            <a:ext cx="3590290" cy="2961005"/>
          </a:xfrm>
          <a:prstGeom prst="rect">
            <a:avLst/>
          </a:prstGeom>
        </p:spPr>
      </p:pic>
      <p:pic>
        <p:nvPicPr>
          <p:cNvPr id="9" name="Image 317">
            <a:extLst>
              <a:ext uri="{FF2B5EF4-FFF2-40B4-BE49-F238E27FC236}">
                <a16:creationId xmlns:a16="http://schemas.microsoft.com/office/drawing/2014/main" id="{BBF71000-1ED8-7914-B07C-CB37E3983EF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a:xfrm>
            <a:off x="162242" y="1604010"/>
            <a:ext cx="3347720" cy="5281930"/>
          </a:xfrm>
          <a:prstGeom prst="rect">
            <a:avLst/>
          </a:prstGeom>
        </p:spPr>
      </p:pic>
      <p:pic>
        <p:nvPicPr>
          <p:cNvPr id="10" name="Image 321">
            <a:extLst>
              <a:ext uri="{FF2B5EF4-FFF2-40B4-BE49-F238E27FC236}">
                <a16:creationId xmlns:a16="http://schemas.microsoft.com/office/drawing/2014/main" id="{BF15F668-22FC-E298-3EF6-DAF73F48E9D9}"/>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a:xfrm>
            <a:off x="3617277" y="3883660"/>
            <a:ext cx="8412480" cy="3002280"/>
          </a:xfrm>
          <a:prstGeom prst="rect">
            <a:avLst/>
          </a:prstGeom>
        </p:spPr>
      </p:pic>
    </p:spTree>
    <p:extLst>
      <p:ext uri="{BB962C8B-B14F-4D97-AF65-F5344CB8AC3E}">
        <p14:creationId xmlns:p14="http://schemas.microsoft.com/office/powerpoint/2010/main" val="1886042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93A6C-B710-95EA-A30C-BED26E618BB1}"/>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E6994809-1005-32A4-F425-EF87C23F0AB2}"/>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DD76F58F-8735-4E78-C4D8-DF11475E2E17}"/>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F648B189-D7ED-C0AA-97AA-A45079B73599}"/>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4146F9BA-0EF5-D499-882C-CE1E344B55BB}"/>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8DCA4A75-1E19-CCA8-3698-DC98DE214AF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DC881C2E-E609-A6B3-EBC4-1E869CF61BE9}"/>
              </a:ext>
            </a:extLst>
          </p:cNvPr>
          <p:cNvSpPr txBox="1"/>
          <p:nvPr/>
        </p:nvSpPr>
        <p:spPr>
          <a:xfrm>
            <a:off x="1695450" y="457200"/>
            <a:ext cx="6096000" cy="720197"/>
          </a:xfrm>
          <a:prstGeom prst="rect">
            <a:avLst/>
          </a:prstGeom>
          <a:noFill/>
        </p:spPr>
        <p:txBody>
          <a:bodyPr wrap="square">
            <a:spAutoFit/>
          </a:bodyPr>
          <a:lstStyle/>
          <a:p>
            <a:pPr marL="2712085" marR="0" eaLnBrk="0" latinLnBrk="1">
              <a:lnSpc>
                <a:spcPct val="85000"/>
              </a:lnSpc>
              <a:spcBef>
                <a:spcPts val="400"/>
              </a:spcBef>
              <a:spcAft>
                <a:spcPts val="1105"/>
              </a:spcAft>
              <a:buNone/>
            </a:pPr>
            <a:r>
              <a:rPr lang="en-US" sz="4800" b="1" spc="25" dirty="0">
                <a:solidFill>
                  <a:srgbClr val="FF0000"/>
                </a:solidFill>
                <a:effectLst/>
                <a:latin typeface="Arial" panose="020B0604020202020204" pitchFamily="34" charset="0"/>
                <a:ea typeface="Arial" panose="020B0604020202020204" pitchFamily="34" charset="0"/>
              </a:rPr>
              <a:t>MVP</a:t>
            </a:r>
            <a:endParaRPr lang="en-US" sz="1050" dirty="0">
              <a:solidFill>
                <a:srgbClr val="FF0000"/>
              </a:solidFill>
              <a:effectLst/>
              <a:latin typeface="Arial" panose="020B0604020202020204" pitchFamily="34" charset="0"/>
              <a:ea typeface="Arial" panose="020B0604020202020204" pitchFamily="34" charset="0"/>
            </a:endParaRPr>
          </a:p>
        </p:txBody>
      </p:sp>
      <p:pic>
        <p:nvPicPr>
          <p:cNvPr id="6" name="Image 340">
            <a:extLst>
              <a:ext uri="{FF2B5EF4-FFF2-40B4-BE49-F238E27FC236}">
                <a16:creationId xmlns:a16="http://schemas.microsoft.com/office/drawing/2014/main" id="{79031092-0781-80A3-8F9A-B1706C32C6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358900" y="212090"/>
            <a:ext cx="2517140" cy="3411855"/>
          </a:xfrm>
          <a:prstGeom prst="rect">
            <a:avLst/>
          </a:prstGeom>
        </p:spPr>
      </p:pic>
      <p:pic>
        <p:nvPicPr>
          <p:cNvPr id="7" name="Image 413">
            <a:extLst>
              <a:ext uri="{FF2B5EF4-FFF2-40B4-BE49-F238E27FC236}">
                <a16:creationId xmlns:a16="http://schemas.microsoft.com/office/drawing/2014/main" id="{766F40D0-2F15-A43E-39C1-DDB2781C7D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7180580" y="871855"/>
            <a:ext cx="3652520" cy="2595245"/>
          </a:xfrm>
          <a:prstGeom prst="rect">
            <a:avLst/>
          </a:prstGeom>
        </p:spPr>
      </p:pic>
      <p:pic>
        <p:nvPicPr>
          <p:cNvPr id="8" name="Image 433">
            <a:extLst>
              <a:ext uri="{FF2B5EF4-FFF2-40B4-BE49-F238E27FC236}">
                <a16:creationId xmlns:a16="http://schemas.microsoft.com/office/drawing/2014/main" id="{F976F538-26A0-49E5-AFE6-B016CA755AE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330315" y="3691255"/>
            <a:ext cx="3372485" cy="2887980"/>
          </a:xfrm>
          <a:prstGeom prst="rect">
            <a:avLst/>
          </a:prstGeom>
        </p:spPr>
      </p:pic>
      <p:pic>
        <p:nvPicPr>
          <p:cNvPr id="9" name="Image 446">
            <a:extLst>
              <a:ext uri="{FF2B5EF4-FFF2-40B4-BE49-F238E27FC236}">
                <a16:creationId xmlns:a16="http://schemas.microsoft.com/office/drawing/2014/main" id="{553CBDAB-5530-48D6-2DB7-6B8E061AA56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a:xfrm>
            <a:off x="1861820" y="3741420"/>
            <a:ext cx="3743960" cy="2904490"/>
          </a:xfrm>
          <a:prstGeom prst="rect">
            <a:avLst/>
          </a:prstGeom>
        </p:spPr>
      </p:pic>
    </p:spTree>
    <p:extLst>
      <p:ext uri="{BB962C8B-B14F-4D97-AF65-F5344CB8AC3E}">
        <p14:creationId xmlns:p14="http://schemas.microsoft.com/office/powerpoint/2010/main" val="3556047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8006-3DFD-6BD6-EF58-5504EC363E49}"/>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6E8BD2B8-7A88-B76C-91AB-CB55C1A32AFD}"/>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C6F9EECC-72E9-8A0C-74C2-FBE658F49047}"/>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16D79966-6E9E-159D-8A62-F7714C802A18}"/>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612F64A1-FC5A-1C91-780D-B85D0090A2FE}"/>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512F8369-AB1B-3D08-2064-B52AB9B5080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Image 488">
            <a:extLst>
              <a:ext uri="{FF2B5EF4-FFF2-40B4-BE49-F238E27FC236}">
                <a16:creationId xmlns:a16="http://schemas.microsoft.com/office/drawing/2014/main" id="{252560FF-826A-DBB9-8BBB-D675151CD2A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17" y="0"/>
            <a:ext cx="3856990" cy="6858000"/>
          </a:xfrm>
          <a:prstGeom prst="rect">
            <a:avLst/>
          </a:prstGeom>
        </p:spPr>
      </p:pic>
      <p:pic>
        <p:nvPicPr>
          <p:cNvPr id="3" name="Image 490">
            <a:extLst>
              <a:ext uri="{FF2B5EF4-FFF2-40B4-BE49-F238E27FC236}">
                <a16:creationId xmlns:a16="http://schemas.microsoft.com/office/drawing/2014/main" id="{5BFC9AC4-39A7-535A-4B79-E70496B09B7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8334692" y="0"/>
            <a:ext cx="3856990" cy="6858000"/>
          </a:xfrm>
          <a:prstGeom prst="rect">
            <a:avLst/>
          </a:prstGeom>
        </p:spPr>
      </p:pic>
    </p:spTree>
    <p:extLst>
      <p:ext uri="{BB962C8B-B14F-4D97-AF65-F5344CB8AC3E}">
        <p14:creationId xmlns:p14="http://schemas.microsoft.com/office/powerpoint/2010/main" val="3611797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971D-03AE-8E3C-C60F-E62C9C531DC5}"/>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33410D84-6B3C-D1FE-A795-2EA7FD5322C6}"/>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BE463854-2949-94BD-3E79-7156D8091C96}"/>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48AF228F-B221-FA60-6BF1-97A666BC3BF7}"/>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62885B01-0624-7237-8137-70B1844080B0}"/>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DBFE138D-527B-C59B-77B4-46F9C1AB0D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F5736DA-E8FF-2F41-E8B5-5F3A825D916B}"/>
              </a:ext>
            </a:extLst>
          </p:cNvPr>
          <p:cNvSpPr txBox="1"/>
          <p:nvPr/>
        </p:nvSpPr>
        <p:spPr>
          <a:xfrm>
            <a:off x="0" y="2391235"/>
            <a:ext cx="9169801" cy="955646"/>
          </a:xfrm>
          <a:prstGeom prst="rect">
            <a:avLst/>
          </a:prstGeom>
          <a:noFill/>
        </p:spPr>
        <p:txBody>
          <a:bodyPr wrap="square">
            <a:spAutoFit/>
          </a:bodyPr>
          <a:lstStyle/>
          <a:p>
            <a:pPr marL="2712085" marR="0" algn="ctr" eaLnBrk="0" latinLnBrk="1">
              <a:lnSpc>
                <a:spcPct val="85000"/>
              </a:lnSpc>
              <a:spcBef>
                <a:spcPts val="400"/>
              </a:spcBef>
              <a:spcAft>
                <a:spcPts val="1105"/>
              </a:spcAft>
              <a:buNone/>
            </a:pPr>
            <a:r>
              <a:rPr lang="en-US" sz="6600" b="1" spc="25" dirty="0">
                <a:solidFill>
                  <a:srgbClr val="FF0000"/>
                </a:solidFill>
                <a:latin typeface="Arial" panose="020B0604020202020204" pitchFamily="34" charset="0"/>
                <a:ea typeface="Arial" panose="020B0604020202020204" pitchFamily="34" charset="0"/>
              </a:rPr>
              <a:t>UML Diagrams</a:t>
            </a:r>
            <a:endParaRPr lang="en-US" sz="6600" dirty="0">
              <a:solidFill>
                <a:srgbClr val="FF0000"/>
              </a:solidFill>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12407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476A1-1D44-CB05-EE00-73B61D07B7DB}"/>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83CD8069-4F89-46ED-9EC6-5861E0904E23}"/>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CB4544B8-BE70-56CA-E3AB-2D6BD4E11FF5}"/>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B25E7CEA-B7E0-C1AB-93E7-6107F24E93DE}"/>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58E2D096-1B4E-1334-6C4D-816860C59AFC}"/>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25A47239-F8E1-A8C2-690E-78EB4C0F3BD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B65D636-1F25-3E47-B859-A8A09009D451}"/>
              </a:ext>
            </a:extLst>
          </p:cNvPr>
          <p:cNvSpPr txBox="1"/>
          <p:nvPr/>
        </p:nvSpPr>
        <p:spPr>
          <a:xfrm>
            <a:off x="571501" y="97102"/>
            <a:ext cx="8429624" cy="720197"/>
          </a:xfrm>
          <a:prstGeom prst="rect">
            <a:avLst/>
          </a:prstGeom>
          <a:noFill/>
        </p:spPr>
        <p:txBody>
          <a:bodyPr wrap="square">
            <a:spAutoFit/>
          </a:bodyPr>
          <a:lstStyle/>
          <a:p>
            <a:pPr marL="2712085" marR="0" algn="ctr" eaLnBrk="0" latinLnBrk="1">
              <a:lnSpc>
                <a:spcPct val="85000"/>
              </a:lnSpc>
              <a:spcBef>
                <a:spcPts val="400"/>
              </a:spcBef>
              <a:spcAft>
                <a:spcPts val="1105"/>
              </a:spcAft>
              <a:buNone/>
            </a:pPr>
            <a:r>
              <a:rPr lang="en-US" sz="4800" b="1" spc="25" dirty="0">
                <a:solidFill>
                  <a:srgbClr val="FF0000"/>
                </a:solidFill>
                <a:latin typeface="Arial" panose="020B0604020202020204" pitchFamily="34" charset="0"/>
                <a:ea typeface="Arial" panose="020B0604020202020204" pitchFamily="34" charset="0"/>
                <a:hlinkClick r:id="rId2"/>
              </a:rPr>
              <a:t>Use Case </a:t>
            </a:r>
            <a:r>
              <a:rPr lang="en-US" sz="4800" b="1" spc="25" dirty="0" err="1">
                <a:solidFill>
                  <a:srgbClr val="FF0000"/>
                </a:solidFill>
                <a:latin typeface="Arial" panose="020B0604020202020204" pitchFamily="34" charset="0"/>
                <a:ea typeface="Arial" panose="020B0604020202020204" pitchFamily="34" charset="0"/>
                <a:hlinkClick r:id="rId2"/>
              </a:rPr>
              <a:t>Digram</a:t>
            </a:r>
            <a:endParaRPr lang="en-US" sz="1050" dirty="0">
              <a:solidFill>
                <a:srgbClr val="FF0000"/>
              </a:solidFill>
              <a:effectLst/>
              <a:latin typeface="Arial" panose="020B0604020202020204" pitchFamily="34" charset="0"/>
              <a:ea typeface="Arial" panose="020B0604020202020204" pitchFamily="34" charset="0"/>
            </a:endParaRPr>
          </a:p>
        </p:txBody>
      </p:sp>
      <p:pic>
        <p:nvPicPr>
          <p:cNvPr id="10" name="Picture 9">
            <a:extLst>
              <a:ext uri="{FF2B5EF4-FFF2-40B4-BE49-F238E27FC236}">
                <a16:creationId xmlns:a16="http://schemas.microsoft.com/office/drawing/2014/main" id="{EE813149-8F62-D354-11C4-D6BCA10A4C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6456" y="914401"/>
            <a:ext cx="7939087" cy="5680317"/>
          </a:xfrm>
          <a:prstGeom prst="rect">
            <a:avLst/>
          </a:prstGeom>
        </p:spPr>
      </p:pic>
    </p:spTree>
    <p:extLst>
      <p:ext uri="{BB962C8B-B14F-4D97-AF65-F5344CB8AC3E}">
        <p14:creationId xmlns:p14="http://schemas.microsoft.com/office/powerpoint/2010/main" val="319083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F77FB-DCE5-D7F1-48D0-ADA51592F77E}"/>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943CE0F2-80FA-6E67-F017-9CFA35B2F3F1}"/>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64F9856B-31A6-ED97-474B-2D7ADC8DC997}"/>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41675EC1-290C-77F6-FB9C-267279A94DFA}"/>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5790832C-8D2D-B9E6-162F-347FE949881C}"/>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D482AB9C-4C2D-C471-FFFD-4E63902D28A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76B10F6-9664-BE0F-6BC9-9475A74C1E43}"/>
              </a:ext>
            </a:extLst>
          </p:cNvPr>
          <p:cNvSpPr txBox="1"/>
          <p:nvPr/>
        </p:nvSpPr>
        <p:spPr>
          <a:xfrm>
            <a:off x="571501" y="97102"/>
            <a:ext cx="8429624" cy="720197"/>
          </a:xfrm>
          <a:prstGeom prst="rect">
            <a:avLst/>
          </a:prstGeom>
          <a:noFill/>
        </p:spPr>
        <p:txBody>
          <a:bodyPr wrap="square">
            <a:spAutoFit/>
          </a:bodyPr>
          <a:lstStyle/>
          <a:p>
            <a:pPr marL="2712085" marR="0" lvl="0" indent="0" algn="ctr" defTabSz="914400" rtl="0" eaLnBrk="0" fontAlgn="auto" latinLnBrk="1" hangingPunct="1">
              <a:lnSpc>
                <a:spcPct val="85000"/>
              </a:lnSpc>
              <a:spcBef>
                <a:spcPts val="400"/>
              </a:spcBef>
              <a:spcAft>
                <a:spcPts val="1105"/>
              </a:spcAft>
              <a:buClrTx/>
              <a:buSzTx/>
              <a:buFontTx/>
              <a:buNone/>
              <a:tabLst/>
              <a:defRPr/>
            </a:pPr>
            <a:r>
              <a:rPr kumimoji="0" lang="en-US" sz="4800" b="1" i="0" u="none" strike="noStrike" kern="1200" cap="none" spc="25" normalizeH="0" baseline="0" noProof="0" dirty="0">
                <a:ln>
                  <a:noFill/>
                </a:ln>
                <a:solidFill>
                  <a:srgbClr val="FF0000"/>
                </a:solidFill>
                <a:effectLst/>
                <a:uLnTx/>
                <a:uFillTx/>
                <a:latin typeface="Arial" panose="020B0604020202020204" pitchFamily="34" charset="0"/>
                <a:ea typeface="Arial" panose="020B0604020202020204" pitchFamily="34" charset="0"/>
                <a:cs typeface="+mn-cs"/>
                <a:hlinkClick r:id="rId2"/>
              </a:rPr>
              <a:t>Activity Diagram</a:t>
            </a:r>
            <a:endParaRPr kumimoji="0" lang="en-US" sz="1050" b="0" i="0" u="none" strike="noStrike" kern="1200" cap="none" spc="0" normalizeH="0" baseline="0" noProof="0" dirty="0">
              <a:ln>
                <a:noFill/>
              </a:ln>
              <a:solidFill>
                <a:srgbClr val="FF0000"/>
              </a:solidFill>
              <a:effectLst/>
              <a:uLnTx/>
              <a:uFillTx/>
              <a:latin typeface="Arial" panose="020B0604020202020204" pitchFamily="34" charset="0"/>
              <a:ea typeface="Arial" panose="020B0604020202020204" pitchFamily="34" charset="0"/>
              <a:cs typeface="+mn-cs"/>
            </a:endParaRPr>
          </a:p>
        </p:txBody>
      </p:sp>
      <p:pic>
        <p:nvPicPr>
          <p:cNvPr id="3" name="Picture 2">
            <a:extLst>
              <a:ext uri="{FF2B5EF4-FFF2-40B4-BE49-F238E27FC236}">
                <a16:creationId xmlns:a16="http://schemas.microsoft.com/office/drawing/2014/main" id="{54B26E8E-CCF8-B0F9-29E5-2A276BA0E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3474" y="951476"/>
            <a:ext cx="9345052" cy="5772346"/>
          </a:xfrm>
          <a:prstGeom prst="rect">
            <a:avLst/>
          </a:prstGeom>
        </p:spPr>
      </p:pic>
    </p:spTree>
    <p:extLst>
      <p:ext uri="{BB962C8B-B14F-4D97-AF65-F5344CB8AC3E}">
        <p14:creationId xmlns:p14="http://schemas.microsoft.com/office/powerpoint/2010/main" val="2745899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831D8-1B5D-4CDD-7899-3DE7FAD794EC}"/>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F03E5A71-AC8F-5EF8-D9D7-093C1BCAC308}"/>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96BE192A-2F97-AED7-ED44-BBC16485CDAA}"/>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81E1F457-251D-C5B0-64F7-0AF9A91E0CFA}"/>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62CF9825-58F2-59E8-65AD-45F823F5F78E}"/>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4EAB72AD-3C65-A227-81EA-1324DA0C72E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625B52B-A0CE-8143-F99E-DE77F5C92BBE}"/>
              </a:ext>
            </a:extLst>
          </p:cNvPr>
          <p:cNvSpPr txBox="1"/>
          <p:nvPr/>
        </p:nvSpPr>
        <p:spPr>
          <a:xfrm>
            <a:off x="0" y="2391235"/>
            <a:ext cx="9169801" cy="955646"/>
          </a:xfrm>
          <a:prstGeom prst="rect">
            <a:avLst/>
          </a:prstGeom>
          <a:noFill/>
        </p:spPr>
        <p:txBody>
          <a:bodyPr wrap="square">
            <a:spAutoFit/>
          </a:bodyPr>
          <a:lstStyle/>
          <a:p>
            <a:pPr marL="2712085" marR="0" algn="ctr" eaLnBrk="0" latinLnBrk="1">
              <a:lnSpc>
                <a:spcPct val="85000"/>
              </a:lnSpc>
              <a:spcBef>
                <a:spcPts val="400"/>
              </a:spcBef>
              <a:spcAft>
                <a:spcPts val="1105"/>
              </a:spcAft>
              <a:buNone/>
            </a:pPr>
            <a:r>
              <a:rPr lang="en-US" sz="6600" b="1" spc="25" dirty="0">
                <a:solidFill>
                  <a:srgbClr val="7030A0"/>
                </a:solidFill>
                <a:latin typeface="Arial" panose="020B0604020202020204" pitchFamily="34" charset="0"/>
                <a:ea typeface="Arial" panose="020B0604020202020204" pitchFamily="34" charset="0"/>
              </a:rPr>
              <a:t>Wire Frames</a:t>
            </a:r>
            <a:endParaRPr lang="en-US" sz="6600" dirty="0">
              <a:solidFill>
                <a:srgbClr val="7030A0"/>
              </a:solidFill>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394929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50341-9FC3-E4EC-292F-4579B18D396F}"/>
            </a:ext>
          </a:extLst>
        </p:cNvPr>
        <p:cNvGrpSpPr/>
        <p:nvPr/>
      </p:nvGrpSpPr>
      <p:grpSpPr>
        <a:xfrm>
          <a:off x="0" y="0"/>
          <a:ext cx="0" cy="0"/>
          <a:chOff x="0" y="0"/>
          <a:chExt cx="0" cy="0"/>
        </a:xfrm>
      </p:grpSpPr>
      <p:grpSp>
        <p:nvGrpSpPr>
          <p:cNvPr id="2117" name="Image 11">
            <a:extLst>
              <a:ext uri="{FF2B5EF4-FFF2-40B4-BE49-F238E27FC236}">
                <a16:creationId xmlns:a16="http://schemas.microsoft.com/office/drawing/2014/main" id="{2DA24779-5B01-F9F7-8F0C-6D23A5792873}"/>
              </a:ext>
            </a:extLst>
          </p:cNvPr>
          <p:cNvGrpSpPr/>
          <p:nvPr/>
        </p:nvGrpSpPr>
        <p:grpSpPr>
          <a:xfrm>
            <a:off x="0" y="0"/>
            <a:ext cx="12192001" cy="6858000"/>
            <a:chOff x="0" y="0"/>
            <a:chExt cx="12192001" cy="6858000"/>
          </a:xfrm>
        </p:grpSpPr>
        <p:sp>
          <p:nvSpPr>
            <p:cNvPr id="2118" name="Rectangle 2117">
              <a:extLst>
                <a:ext uri="{FF2B5EF4-FFF2-40B4-BE49-F238E27FC236}">
                  <a16:creationId xmlns:a16="http://schemas.microsoft.com/office/drawing/2014/main" id="{758CA718-BBB0-F218-9394-86CB4055364A}"/>
                </a:ext>
              </a:extLst>
            </p:cNvPr>
            <p:cNvSpPr/>
            <p:nvPr/>
          </p:nvSpPr>
          <p:spPr>
            <a:xfrm>
              <a:off x="0" y="0"/>
              <a:ext cx="12192000" cy="6858000"/>
            </a:xfrm>
            <a:prstGeom prst="rect">
              <a:avLst/>
            </a:prstGeom>
          </p:spPr>
        </p:sp>
        <p:sp>
          <p:nvSpPr>
            <p:cNvPr id="2119" name="Freeform: Shape 2118">
              <a:extLst>
                <a:ext uri="{FF2B5EF4-FFF2-40B4-BE49-F238E27FC236}">
                  <a16:creationId xmlns:a16="http://schemas.microsoft.com/office/drawing/2014/main" id="{ABE49DDE-8636-9942-F089-A867E93AD0A0}"/>
                </a:ext>
              </a:extLst>
            </p:cNvPr>
            <p:cNvSpPr/>
            <p:nvPr/>
          </p:nvSpPr>
          <p:spPr>
            <a:xfrm>
              <a:off x="0" y="0"/>
              <a:ext cx="12192000" cy="6857999"/>
            </a:xfrm>
            <a:custGeom>
              <a:avLst/>
              <a:gdLst/>
              <a:ahLst/>
              <a:cxnLst/>
              <a:rect l="l" t="t" r="r" b="b"/>
              <a:pathLst>
                <a:path w="12192000" h="6857999">
                  <a:moveTo>
                    <a:pt x="0" y="6857999"/>
                  </a:moveTo>
                  <a:lnTo>
                    <a:pt x="12192000" y="6857999"/>
                  </a:lnTo>
                  <a:lnTo>
                    <a:pt x="12192000" y="-1"/>
                  </a:lnTo>
                  <a:lnTo>
                    <a:pt x="0" y="-1"/>
                  </a:lnTo>
                  <a:lnTo>
                    <a:pt x="0" y="6857999"/>
                  </a:lnTo>
                  <a:close/>
                </a:path>
              </a:pathLst>
            </a:custGeom>
            <a:solidFill>
              <a:srgbClr val="507C89">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0" name="Freeform: Shape 2119">
              <a:extLst>
                <a:ext uri="{FF2B5EF4-FFF2-40B4-BE49-F238E27FC236}">
                  <a16:creationId xmlns:a16="http://schemas.microsoft.com/office/drawing/2014/main" id="{1DC80341-09CB-E486-0B52-6F64FD096350}"/>
                </a:ext>
              </a:extLst>
            </p:cNvPr>
            <p:cNvSpPr/>
            <p:nvPr/>
          </p:nvSpPr>
          <p:spPr>
            <a:xfrm>
              <a:off x="1" y="0"/>
              <a:ext cx="12192000" cy="6857999"/>
            </a:xfrm>
            <a:custGeom>
              <a:avLst/>
              <a:gdLst/>
              <a:ahLst/>
              <a:cxnLst/>
              <a:rect l="l" t="t" r="r" b="b"/>
              <a:pathLst>
                <a:path w="12192000" h="6857999">
                  <a:moveTo>
                    <a:pt x="-2" y="0"/>
                  </a:moveTo>
                  <a:lnTo>
                    <a:pt x="8673338" y="0"/>
                  </a:lnTo>
                  <a:lnTo>
                    <a:pt x="12192000" y="3092196"/>
                  </a:lnTo>
                  <a:lnTo>
                    <a:pt x="12192000" y="6857999"/>
                  </a:lnTo>
                  <a:lnTo>
                    <a:pt x="6589013" y="6857999"/>
                  </a:lnTo>
                  <a:lnTo>
                    <a:pt x="-2" y="1067689"/>
                  </a:lnTo>
                  <a:lnTo>
                    <a:pt x="-2" y="0"/>
                  </a:lnTo>
                  <a:close/>
                </a:path>
              </a:pathLst>
            </a:custGeom>
            <a:solidFill>
              <a:srgbClr val="90B4BE">
                <a:alpha val="100000"/>
              </a:srgb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16" name="Rectangle 68">
            <a:extLst>
              <a:ext uri="{FF2B5EF4-FFF2-40B4-BE49-F238E27FC236}">
                <a16:creationId xmlns:a16="http://schemas.microsoft.com/office/drawing/2014/main" id="{ED32772A-3461-98AE-DD3F-CB8F25C133A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BEAFCF13-92BB-72D5-35FD-9914A6EF9CE7}"/>
              </a:ext>
            </a:extLst>
          </p:cNvPr>
          <p:cNvPicPr>
            <a:picLocks noChangeAspect="1"/>
          </p:cNvPicPr>
          <p:nvPr/>
        </p:nvPicPr>
        <p:blipFill>
          <a:blip r:embed="rId2"/>
          <a:stretch>
            <a:fillRect/>
          </a:stretch>
        </p:blipFill>
        <p:spPr>
          <a:xfrm>
            <a:off x="2615491" y="0"/>
            <a:ext cx="3480509" cy="6858000"/>
          </a:xfrm>
          <a:prstGeom prst="rect">
            <a:avLst/>
          </a:prstGeom>
        </p:spPr>
      </p:pic>
      <p:pic>
        <p:nvPicPr>
          <p:cNvPr id="5" name="Picture 4">
            <a:extLst>
              <a:ext uri="{FF2B5EF4-FFF2-40B4-BE49-F238E27FC236}">
                <a16:creationId xmlns:a16="http://schemas.microsoft.com/office/drawing/2014/main" id="{ECC263CF-953C-CF54-1942-117336036498}"/>
              </a:ext>
            </a:extLst>
          </p:cNvPr>
          <p:cNvPicPr>
            <a:picLocks noChangeAspect="1"/>
          </p:cNvPicPr>
          <p:nvPr/>
        </p:nvPicPr>
        <p:blipFill>
          <a:blip r:embed="rId3"/>
          <a:stretch>
            <a:fillRect/>
          </a:stretch>
        </p:blipFill>
        <p:spPr>
          <a:xfrm>
            <a:off x="6096000" y="1"/>
            <a:ext cx="3480509" cy="6858000"/>
          </a:xfrm>
          <a:prstGeom prst="rect">
            <a:avLst/>
          </a:prstGeom>
        </p:spPr>
      </p:pic>
    </p:spTree>
    <p:extLst>
      <p:ext uri="{BB962C8B-B14F-4D97-AF65-F5344CB8AC3E}">
        <p14:creationId xmlns:p14="http://schemas.microsoft.com/office/powerpoint/2010/main" val="912028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441</Words>
  <Application>Microsoft Office PowerPoint</Application>
  <PresentationFormat>Widescreen</PresentationFormat>
  <Paragraphs>96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Mohamadmahdi Mirzaiei</dc:creator>
  <cp:lastModifiedBy>Mohamadmahdi Mirzaiei</cp:lastModifiedBy>
  <cp:revision>21</cp:revision>
  <dcterms:created xsi:type="dcterms:W3CDTF">2025-12-21T18:21:33Z</dcterms:created>
  <dcterms:modified xsi:type="dcterms:W3CDTF">2025-12-26T21:04:46Z</dcterms:modified>
</cp:coreProperties>
</file>